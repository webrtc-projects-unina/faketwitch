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815" r:id="rId1"/>
  </p:sldMasterIdLst>
  <p:notesMasterIdLst>
    <p:notesMasterId r:id="rId34"/>
  </p:notesMasterIdLst>
  <p:sldIdLst>
    <p:sldId id="270" r:id="rId2"/>
    <p:sldId id="301" r:id="rId3"/>
    <p:sldId id="303" r:id="rId4"/>
    <p:sldId id="291" r:id="rId5"/>
    <p:sldId id="299" r:id="rId6"/>
    <p:sldId id="271" r:id="rId7"/>
    <p:sldId id="305" r:id="rId8"/>
    <p:sldId id="277" r:id="rId9"/>
    <p:sldId id="278" r:id="rId10"/>
    <p:sldId id="279" r:id="rId11"/>
    <p:sldId id="306" r:id="rId12"/>
    <p:sldId id="307" r:id="rId13"/>
    <p:sldId id="273" r:id="rId14"/>
    <p:sldId id="286" r:id="rId15"/>
    <p:sldId id="287" r:id="rId16"/>
    <p:sldId id="288" r:id="rId17"/>
    <p:sldId id="289" r:id="rId18"/>
    <p:sldId id="290" r:id="rId19"/>
    <p:sldId id="272" r:id="rId20"/>
    <p:sldId id="280" r:id="rId21"/>
    <p:sldId id="281" r:id="rId22"/>
    <p:sldId id="282" r:id="rId23"/>
    <p:sldId id="283" r:id="rId24"/>
    <p:sldId id="284" r:id="rId25"/>
    <p:sldId id="304" r:id="rId26"/>
    <p:sldId id="292" r:id="rId27"/>
    <p:sldId id="294" r:id="rId28"/>
    <p:sldId id="295" r:id="rId29"/>
    <p:sldId id="296" r:id="rId30"/>
    <p:sldId id="297" r:id="rId31"/>
    <p:sldId id="298" r:id="rId32"/>
    <p:sldId id="302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26"/>
    <p:restoredTop sz="94656"/>
  </p:normalViewPr>
  <p:slideViewPr>
    <p:cSldViewPr snapToGrid="0">
      <p:cViewPr>
        <p:scale>
          <a:sx n="110" d="100"/>
          <a:sy n="110" d="100"/>
        </p:scale>
        <p:origin x="1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7711D7-B490-0A42-8F01-2699A3D88374}" type="datetimeFigureOut">
              <a:rPr lang="it-IT" smtClean="0"/>
              <a:t>12/10/26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9BF00-E55A-994B-A6F8-23B178FA85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4863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r>
              <a:rPr lang="it-IT"/>
              <a:t>Esame WebRTC Rivieccio Tommaso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F053655-31C0-3F45-A39A-C2B3574A0E63}" type="datetime1">
              <a:rPr lang="it-IT" smtClean="0"/>
              <a:t>12/10/26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9579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D1AD-C4FA-744C-AE17-8AD054A22D4A}" type="datetime1">
              <a:rPr lang="it-IT" smtClean="0"/>
              <a:t>12/10/26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4745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r>
              <a:rPr lang="it-IT"/>
              <a:t>Esame WebRTC Rivieccio Tommaso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F9B81CC3-2F8D-AE42-9E9D-0FCD089F6ED8}" type="datetime1">
              <a:rPr lang="it-IT" smtClean="0"/>
              <a:t>12/10/26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451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it-IT"/>
              <a:t>Esame WebRTC Rivieccio Tommaso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3634E72F-F581-8F49-AD42-21DB25E9C914}" type="datetime1">
              <a:rPr lang="it-IT" smtClean="0"/>
              <a:t>12/10/26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06403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it-IT"/>
              <a:t>Esame WebRTC Rivieccio Tommaso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356C-E38B-C744-B474-426B37376DC3}" type="datetime1">
              <a:rPr lang="it-IT" smtClean="0"/>
              <a:t>12/10/26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7154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Esame WebRTC Rivieccio Tommaso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8905EC76-A09B-2E45-A53B-1DE64B164711}" type="datetime1">
              <a:rPr lang="it-IT" smtClean="0"/>
              <a:t>12/10/26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54143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stazione sezione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it-IT"/>
              <a:t>Esame WebRTC Rivieccio Tommaso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DCA6BD9B-A269-3249-8132-B98D4619BA95}" type="datetime1">
              <a:rPr lang="it-IT" smtClean="0"/>
              <a:t>12/10/26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902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r>
              <a:rPr lang="it-IT"/>
              <a:t>Esame WebRTC Rivieccio Tommaso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B0867-F939-144D-A190-A3F7425EB709}" type="datetime1">
              <a:rPr lang="it-IT" smtClean="0"/>
              <a:t>12/10/26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5665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755D51F3-7A61-094B-B7F1-EE4820032949}" type="datetime1">
              <a:rPr lang="it-IT" smtClean="0"/>
              <a:t>12/10/26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2148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r>
              <a:rPr lang="it-IT"/>
              <a:t>Esame WebRTC Rivieccio Tommaso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9B3D912D-EFBD-F841-9CE6-3E1A7C397AAA}" type="datetime1">
              <a:rPr lang="it-IT" smtClean="0"/>
              <a:t>12/10/26</a:t>
            </a:fld>
            <a:endParaRPr lang="it-IT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840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B78DB-A581-534C-8282-B3F2B819DB89}" type="datetime1">
              <a:rPr lang="it-IT" smtClean="0"/>
              <a:t>12/10/26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25946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r>
              <a:rPr lang="it-IT"/>
              <a:t>Esame WebRTC Rivieccio Tommaso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2754B-655A-8947-8EFD-95F327490D89}" type="datetime1">
              <a:rPr lang="it-IT" smtClean="0"/>
              <a:t>12/10/26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972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r>
              <a:rPr lang="it-IT"/>
              <a:t>Esame WebRTC Rivieccio Tommaso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3317CCE2-CDF5-FF42-91A5-1CC1AC94F369}" type="datetime1">
              <a:rPr lang="it-IT" smtClean="0"/>
              <a:t>12/10/26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705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CF064984-3D53-C94F-8E1B-EA4DBBF6495C}" type="datetime1">
              <a:rPr lang="it-IT" smtClean="0"/>
              <a:t>12/10/26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6263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r>
              <a:rPr lang="it-IT"/>
              <a:t>Esame WebRTC Rivieccio Tommaso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5260B2F4-1B87-854E-A8AE-D5055F14900B}" type="datetime1">
              <a:rPr lang="it-IT" smtClean="0"/>
              <a:t>12/10/26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825263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r>
              <a:rPr lang="it-IT"/>
              <a:t>Esame WebRTC Rivieccio Tommaso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60DB919A-117A-AB4E-818D-19CD96B80F4C}" type="datetime1">
              <a:rPr lang="it-IT" smtClean="0"/>
              <a:t>12/10/26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4214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AD48-2519-D74D-9029-2767996902EB}" type="datetime1">
              <a:rPr lang="it-IT" smtClean="0"/>
              <a:t>12/10/26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03376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7EA4-7755-074C-AE7F-9195B8FC8752}" type="datetime1">
              <a:rPr lang="it-IT" smtClean="0"/>
              <a:t>12/10/26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3878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Esame WebRTC Rivieccio Tommaso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405CA5-0CCB-6E4D-B18E-A3BA80D1CA54}" type="datetime1">
              <a:rPr lang="it-IT" smtClean="0"/>
              <a:t>12/10/26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149457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it-IT"/>
              <a:t>Esame WebRTC Rivieccio Tommaso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A8E3036-F148-6941-8A8F-82D40424F2E4}" type="datetime1">
              <a:rPr lang="it-IT" smtClean="0"/>
              <a:t>12/10/26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324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Esame WebRTC Rivieccio Tommaso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A278E14-3D31-2841-B62B-0596D7E8BCF6}" type="datetime1">
              <a:rPr lang="it-IT" smtClean="0"/>
              <a:t>12/10/26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98845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B8C41-1A3A-BE4C-A52C-FDC1C09CAF13}" type="datetime1">
              <a:rPr lang="it-IT" smtClean="0"/>
              <a:t>12/10/26</a:t>
            </a:fld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9824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E324-8E71-E141-AB3C-DC486014035C}" type="datetime1">
              <a:rPr lang="it-IT" smtClean="0"/>
              <a:t>12/10/26</a:t>
            </a:fld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09665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36043-8019-2849-ACEB-65744250BF83}" type="datetime1">
              <a:rPr lang="it-IT" smtClean="0"/>
              <a:t>12/10/26</a:t>
            </a:fld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03896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B0B4B-6480-544A-872F-CE34641F5E0A}" type="datetime1">
              <a:rPr lang="it-IT" smtClean="0"/>
              <a:t>12/10/26</a:t>
            </a:fld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54547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Esame WebRTC Rivieccio Tommaso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F8BD7D3-C407-8242-BDB0-5CC6B65605FC}" type="datetime1">
              <a:rPr lang="it-IT" smtClean="0"/>
              <a:t>12/10/26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029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Esame WebRTC Rivieccio Tommaso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6C9FDB-9A30-864E-BCA4-B4300149CD6E}" type="datetime1">
              <a:rPr lang="it-IT" smtClean="0"/>
              <a:t>12/10/26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8567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Esame WebRTC Rivieccio Tommaso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F3BE2880-0DC9-A340-9D3C-B61B37938040}" type="datetime1">
              <a:rPr lang="it-IT" smtClean="0"/>
              <a:t>12/10/26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692F7B50-560D-174B-B17B-7351FD58EB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60347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  <p:sldLayoutId id="2147483827" r:id="rId12"/>
    <p:sldLayoutId id="2147483828" r:id="rId13"/>
    <p:sldLayoutId id="2147483829" r:id="rId14"/>
    <p:sldLayoutId id="2147483830" r:id="rId15"/>
    <p:sldLayoutId id="2147483831" r:id="rId16"/>
    <p:sldLayoutId id="2147483832" r:id="rId17"/>
    <p:sldLayoutId id="2147483833" r:id="rId18"/>
    <p:sldLayoutId id="2147483834" r:id="rId19"/>
    <p:sldLayoutId id="2147483835" r:id="rId20"/>
    <p:sldLayoutId id="2147483836" r:id="rId21"/>
    <p:sldLayoutId id="2147483837" r:id="rId22"/>
    <p:sldLayoutId id="2147483838" r:id="rId23"/>
    <p:sldLayoutId id="2147483839" r:id="rId24"/>
    <p:sldLayoutId id="2147483840" r:id="rId25"/>
    <p:sldLayoutId id="2147483841" r:id="rId26"/>
    <p:sldLayoutId id="2147483842" r:id="rId27"/>
  </p:sldLayoutIdLst>
  <p:hf hdr="0" dt="0"/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5CF1D4-27EA-289C-F93A-1986F5548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1">
            <a:extLst>
              <a:ext uri="{FF2B5EF4-FFF2-40B4-BE49-F238E27FC236}">
                <a16:creationId xmlns:a16="http://schemas.microsoft.com/office/drawing/2014/main" id="{18396FD3-71F4-8D9E-B20A-13B2D17A6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46986"/>
            <a:ext cx="9144000" cy="2764028"/>
          </a:xfrm>
        </p:spPr>
        <p:txBody>
          <a:bodyPr anchor="ctr">
            <a:normAutofit/>
          </a:bodyPr>
          <a:lstStyle/>
          <a:p>
            <a:r>
              <a:rPr lang="it-IT" sz="7200" dirty="0" err="1">
                <a:solidFill>
                  <a:schemeClr val="bg1"/>
                </a:solidFill>
              </a:rPr>
              <a:t>FakeTwitch</a:t>
            </a:r>
            <a:endParaRPr lang="it-IT" sz="7200" dirty="0">
              <a:solidFill>
                <a:schemeClr val="bg1"/>
              </a:solidFill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DBCE1060-D75E-6E9C-0ED9-552DEB54E014}"/>
              </a:ext>
            </a:extLst>
          </p:cNvPr>
          <p:cNvSpPr txBox="1">
            <a:spLocks/>
          </p:cNvSpPr>
          <p:nvPr/>
        </p:nvSpPr>
        <p:spPr>
          <a:xfrm>
            <a:off x="1524000" y="3597275"/>
            <a:ext cx="8258176" cy="631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500" dirty="0">
                <a:solidFill>
                  <a:schemeClr val="bg1"/>
                </a:solidFill>
              </a:rPr>
              <a:t>Esame Web Real Time </a:t>
            </a:r>
            <a:r>
              <a:rPr lang="it-IT" sz="1500" dirty="0" err="1">
                <a:solidFill>
                  <a:schemeClr val="bg1"/>
                </a:solidFill>
              </a:rPr>
              <a:t>Communication</a:t>
            </a:r>
            <a:r>
              <a:rPr lang="it-IT" sz="1500" dirty="0">
                <a:solidFill>
                  <a:schemeClr val="bg1"/>
                </a:solidFill>
              </a:rPr>
              <a:t> 2025/26</a:t>
            </a:r>
          </a:p>
          <a:p>
            <a:pPr marL="0" indent="0">
              <a:buNone/>
            </a:pPr>
            <a:r>
              <a:rPr lang="it-IT" sz="1500" dirty="0">
                <a:solidFill>
                  <a:schemeClr val="bg1"/>
                </a:solidFill>
              </a:rPr>
              <a:t>Rivieccio Tommaso M63001845</a:t>
            </a:r>
          </a:p>
        </p:txBody>
      </p:sp>
    </p:spTree>
    <p:extLst>
      <p:ext uri="{BB962C8B-B14F-4D97-AF65-F5344CB8AC3E}">
        <p14:creationId xmlns:p14="http://schemas.microsoft.com/office/powerpoint/2010/main" val="3854370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D70FE-F573-E6DA-5E30-C258C08AF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79C315-759C-2DF9-49B5-901947601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Stato dell’arte dello streaming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D1F48E7E-2687-10C5-0BCF-F336D89B7D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0930" y="1612898"/>
            <a:ext cx="9793916" cy="4600575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6C1F129-D383-1B9C-5899-6D170C09C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1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2044939-0C20-6CF5-99C8-5E33A66AF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Esame </a:t>
            </a:r>
            <a:r>
              <a:rPr lang="it-IT" dirty="0" err="1"/>
              <a:t>WebRTC</a:t>
            </a:r>
            <a:r>
              <a:rPr lang="it-IT" dirty="0"/>
              <a:t> Rivieccio Tommaso</a:t>
            </a:r>
          </a:p>
        </p:txBody>
      </p:sp>
    </p:spTree>
    <p:extLst>
      <p:ext uri="{BB962C8B-B14F-4D97-AF65-F5344CB8AC3E}">
        <p14:creationId xmlns:p14="http://schemas.microsoft.com/office/powerpoint/2010/main" val="3905357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3946D-0D65-39CD-B7D1-1006DA08F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970CB3-B02E-D9D1-000E-DF877E1D4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Architettura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14FFF055-DF9E-D3C5-2CEB-3F2DA4D11C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5168" y="712573"/>
            <a:ext cx="6872293" cy="5937141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B3A75C66-227B-FD39-CDDC-84F01B20F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2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F557466-ACF0-7DDD-03AF-47DFFA361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</p:spTree>
    <p:extLst>
      <p:ext uri="{BB962C8B-B14F-4D97-AF65-F5344CB8AC3E}">
        <p14:creationId xmlns:p14="http://schemas.microsoft.com/office/powerpoint/2010/main" val="101703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9C6BD-E17F-65CC-AD4F-B8ED619B9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FC7813-73A5-798B-2073-93294B5DD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Streaming Pipeline</a:t>
            </a:r>
          </a:p>
        </p:txBody>
      </p:sp>
      <p:pic>
        <p:nvPicPr>
          <p:cNvPr id="12" name="Segnaposto contenuto 11">
            <a:extLst>
              <a:ext uri="{FF2B5EF4-FFF2-40B4-BE49-F238E27FC236}">
                <a16:creationId xmlns:a16="http://schemas.microsoft.com/office/drawing/2014/main" id="{282A0F45-B267-F22E-1199-A91C8F2868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7188" y="1711551"/>
            <a:ext cx="8661400" cy="4229100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B52A674-F371-AAEB-851B-6AB2EB794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10C51C9-A18A-3C4C-E829-A2AE36602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</p:spTree>
    <p:extLst>
      <p:ext uri="{BB962C8B-B14F-4D97-AF65-F5344CB8AC3E}">
        <p14:creationId xmlns:p14="http://schemas.microsoft.com/office/powerpoint/2010/main" val="2333113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AA29A-C2D2-EDA2-4A1B-30C3F561F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04CBFA-309A-5ED1-6B09-FEF5136A0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Overview</a:t>
            </a:r>
            <a:endParaRPr lang="it-IT" dirty="0"/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381B6634-308F-4CCB-12D0-B7283EED79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2063" y="1670956"/>
            <a:ext cx="8770793" cy="4600575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D11D63F-689C-965B-1A75-DABA587D6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7A4D3F5-D7A0-885D-9FEB-13342AEB1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</p:spTree>
    <p:extLst>
      <p:ext uri="{BB962C8B-B14F-4D97-AF65-F5344CB8AC3E}">
        <p14:creationId xmlns:p14="http://schemas.microsoft.com/office/powerpoint/2010/main" val="3167701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13B3B-D86E-197F-082C-A01C21F89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2C0E37-0F23-C4D2-3440-B70E3BD87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Broadcaster e </a:t>
            </a:r>
            <a:r>
              <a:rPr lang="it-IT" dirty="0" err="1"/>
              <a:t>Ingestion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F56547-3492-9D33-8112-42D59100B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481328"/>
            <a:ext cx="10515600" cy="4599432"/>
          </a:xfrm>
        </p:spPr>
        <p:txBody>
          <a:bodyPr>
            <a:normAutofit/>
          </a:bodyPr>
          <a:lstStyle/>
          <a:p>
            <a:pPr lvl="0"/>
            <a:r>
              <a:rPr lang="it-IT" sz="1600" dirty="0"/>
              <a:t>Il broadcaster invia il flusso e la stream key, ottenuta autenticandosi sulla piattaforma, al server tramite protocollo RTMP (TCP 1935). </a:t>
            </a:r>
          </a:p>
          <a:p>
            <a:pPr lvl="0"/>
            <a:r>
              <a:rPr lang="it-IT" sz="1600" dirty="0"/>
              <a:t>Il server multimediale intercetta la richiesta e interroga la REST API del Back-End per validare la chiave. </a:t>
            </a:r>
          </a:p>
          <a:p>
            <a:pPr lvl="0"/>
            <a:r>
              <a:rPr lang="it-IT" sz="1600" dirty="0"/>
              <a:t>La chiamata API viene protetta tramite un'autenticazione M2M basata su firma HMAC e chiave segreta condivisa. </a:t>
            </a:r>
          </a:p>
          <a:p>
            <a:pPr lvl="0"/>
            <a:r>
              <a:rPr lang="it-IT" sz="1600" dirty="0"/>
              <a:t>Alla conferma del Back-End, il server accetta definitivamente il flusso e avvia la generazione dei </a:t>
            </a:r>
            <a:r>
              <a:rPr lang="it-IT" sz="1600" dirty="0" err="1"/>
              <a:t>manifestie</a:t>
            </a:r>
            <a:r>
              <a:rPr lang="it-IT" sz="1600" dirty="0"/>
              <a:t> quindi la fase di </a:t>
            </a:r>
            <a:r>
              <a:rPr lang="it-IT" sz="1600" dirty="0" err="1"/>
              <a:t>egress</a:t>
            </a:r>
            <a:r>
              <a:rPr lang="it-IT" sz="1600" dirty="0"/>
              <a:t>.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47F7CAE-5392-FD2C-55B7-AAAF623D4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1DA7A2-D3B1-653D-034D-4582791B4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</p:spTree>
    <p:extLst>
      <p:ext uri="{BB962C8B-B14F-4D97-AF65-F5344CB8AC3E}">
        <p14:creationId xmlns:p14="http://schemas.microsoft.com/office/powerpoint/2010/main" val="562908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8E713-6E26-1FAE-BDAD-944943DAF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E32594-477E-8D5E-D972-264E29428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RTMP | </a:t>
            </a:r>
            <a:r>
              <a:rPr lang="it-IT" dirty="0" err="1"/>
              <a:t>Handshake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441431-26A3-4614-BA3F-82D5587A2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481328"/>
            <a:ext cx="6870539" cy="4351338"/>
          </a:xfrm>
        </p:spPr>
        <p:txBody>
          <a:bodyPr>
            <a:normAutofit/>
          </a:bodyPr>
          <a:lstStyle/>
          <a:p>
            <a:pPr lvl="0"/>
            <a:r>
              <a:rPr lang="it-IT" sz="1600" b="1" dirty="0" err="1"/>
              <a:t>Uninitialized</a:t>
            </a:r>
            <a:r>
              <a:rPr lang="it-IT" sz="1600" b="1" dirty="0"/>
              <a:t>:</a:t>
            </a:r>
            <a:r>
              <a:rPr lang="it-IT" sz="1600" dirty="0"/>
              <a:t> Il client propone la versione del protocollo (C0). Il server verifica e risponde (S0 e S1) o interrompe la connessione. </a:t>
            </a:r>
          </a:p>
          <a:p>
            <a:pPr lvl="0"/>
            <a:r>
              <a:rPr lang="it-IT" sz="1600" b="1" dirty="0"/>
              <a:t>Version </a:t>
            </a:r>
            <a:r>
              <a:rPr lang="it-IT" sz="1600" b="1" dirty="0" err="1"/>
              <a:t>sent</a:t>
            </a:r>
            <a:r>
              <a:rPr lang="it-IT" sz="1600" b="1" dirty="0"/>
              <a:t>: </a:t>
            </a:r>
            <a:r>
              <a:rPr lang="it-IT" sz="1600" dirty="0"/>
              <a:t>Scambio dei pacchetti C1 e S1, necessari per stabilire il </a:t>
            </a:r>
            <a:r>
              <a:rPr lang="it-IT" sz="1600" dirty="0" err="1"/>
              <a:t>timestamp</a:t>
            </a:r>
            <a:r>
              <a:rPr lang="it-IT" sz="1600" dirty="0"/>
              <a:t> di riferimento per tutto il flusso successivo. </a:t>
            </a:r>
          </a:p>
          <a:p>
            <a:pPr lvl="0"/>
            <a:r>
              <a:rPr lang="it-IT" sz="1600" b="1" dirty="0"/>
              <a:t>Ack </a:t>
            </a:r>
            <a:r>
              <a:rPr lang="it-IT" sz="1600" b="1" dirty="0" err="1"/>
              <a:t>sent</a:t>
            </a:r>
            <a:r>
              <a:rPr lang="it-IT" sz="1600" b="1" dirty="0"/>
              <a:t>:</a:t>
            </a:r>
            <a:r>
              <a:rPr lang="it-IT" sz="1600" dirty="0"/>
              <a:t> I peer attendono e inviano i pacchetti C2 e S2. Questi fungono da ricevuta e contengono i </a:t>
            </a:r>
            <a:r>
              <a:rPr lang="it-IT" sz="1600" dirty="0" err="1"/>
              <a:t>timestamp</a:t>
            </a:r>
            <a:r>
              <a:rPr lang="it-IT" sz="1600" dirty="0"/>
              <a:t> di lettura, fondamentali per calcolare la latenza di rete. </a:t>
            </a:r>
          </a:p>
          <a:p>
            <a:pPr lvl="0"/>
            <a:r>
              <a:rPr lang="it-IT" sz="1600" b="1" dirty="0" err="1"/>
              <a:t>Handshake</a:t>
            </a:r>
            <a:r>
              <a:rPr lang="it-IT" sz="1600" b="1" dirty="0"/>
              <a:t> </a:t>
            </a:r>
            <a:r>
              <a:rPr lang="it-IT" sz="1600" b="1" dirty="0" err="1"/>
              <a:t>done</a:t>
            </a:r>
            <a:r>
              <a:rPr lang="it-IT" sz="1600" b="1" dirty="0"/>
              <a:t>:</a:t>
            </a:r>
            <a:r>
              <a:rPr lang="it-IT" sz="1600" dirty="0"/>
              <a:t> Negoziazione completata; client e server iniziano lo scambio effettivo dei messaggi. 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83EC275-EC95-2901-23FA-60C056DA0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199" y="1481328"/>
            <a:ext cx="4309641" cy="3766169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D404F70-60B1-1FA0-D5ED-439B285B3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BE86086-2D84-04B7-07A0-FF033C453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</p:spTree>
    <p:extLst>
      <p:ext uri="{BB962C8B-B14F-4D97-AF65-F5344CB8AC3E}">
        <p14:creationId xmlns:p14="http://schemas.microsoft.com/office/powerpoint/2010/main" val="2264009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494D4-B647-3A7B-D748-FB9D6D777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C57FAB-707A-89E4-9709-C731AC735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RTMP | Connect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5B68658-0BBD-6FA1-582F-97737CA53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481328"/>
            <a:ext cx="6870539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it-IT" sz="1600" b="1" dirty="0"/>
              <a:t>Richiesta di connessione: </a:t>
            </a:r>
            <a:r>
              <a:rPr lang="it-IT" sz="1600" dirty="0"/>
              <a:t>Il client invia il comando </a:t>
            </a:r>
            <a:r>
              <a:rPr lang="it-IT" sz="1600" dirty="0" err="1"/>
              <a:t>connect</a:t>
            </a:r>
            <a:r>
              <a:rPr lang="it-IT" sz="1600" dirty="0"/>
              <a:t> per richiedere l'accesso all'applicazione del server (in questo caso app). </a:t>
            </a:r>
          </a:p>
          <a:p>
            <a:pPr>
              <a:lnSpc>
                <a:spcPct val="100000"/>
              </a:lnSpc>
            </a:pPr>
            <a:r>
              <a:rPr lang="it-IT" sz="1600" b="1" dirty="0"/>
              <a:t>Window </a:t>
            </a:r>
            <a:r>
              <a:rPr lang="it-IT" sz="1600" b="1" dirty="0" err="1"/>
              <a:t>Acknowledgement</a:t>
            </a:r>
            <a:r>
              <a:rPr lang="it-IT" sz="1600" b="1" dirty="0"/>
              <a:t> Size: </a:t>
            </a:r>
            <a:r>
              <a:rPr lang="it-IT" sz="1600" dirty="0"/>
              <a:t>Il server risponde comunicando la dimensione della finestra da utilizzare per gli ACK (applicativi per la decodifica). </a:t>
            </a:r>
          </a:p>
          <a:p>
            <a:pPr>
              <a:lnSpc>
                <a:spcPct val="100000"/>
              </a:lnSpc>
            </a:pPr>
            <a:r>
              <a:rPr lang="it-IT" sz="1600" b="1" dirty="0"/>
              <a:t>Set Peer </a:t>
            </a:r>
            <a:r>
              <a:rPr lang="it-IT" sz="1600" b="1" dirty="0" err="1"/>
              <a:t>Bandwidth</a:t>
            </a:r>
            <a:r>
              <a:rPr lang="it-IT" sz="1600" b="1" dirty="0"/>
              <a:t>: </a:t>
            </a:r>
            <a:r>
              <a:rPr lang="it-IT" sz="1600" dirty="0"/>
              <a:t>Il server invia questo messaggio per limitare il throughput di banda in uscita del client. Il client adatterà la quantità di dati inviati in base alla dimensione della finestra. </a:t>
            </a:r>
          </a:p>
          <a:p>
            <a:pPr>
              <a:lnSpc>
                <a:spcPct val="100000"/>
              </a:lnSpc>
            </a:pPr>
            <a:r>
              <a:rPr lang="it-IT" sz="1600" b="1" dirty="0"/>
              <a:t>Window </a:t>
            </a:r>
            <a:r>
              <a:rPr lang="it-IT" sz="1600" b="1" dirty="0" err="1"/>
              <a:t>Acknowledgement</a:t>
            </a:r>
            <a:r>
              <a:rPr lang="it-IT" sz="1600" b="1" dirty="0"/>
              <a:t> Size: </a:t>
            </a:r>
            <a:r>
              <a:rPr lang="it-IT" sz="1600" dirty="0"/>
              <a:t>Ricevuti e applicati i limiti di banda, il client risponde a sua volta con la propria dimensione della finestra. </a:t>
            </a:r>
          </a:p>
          <a:p>
            <a:pPr>
              <a:lnSpc>
                <a:spcPct val="100000"/>
              </a:lnSpc>
            </a:pPr>
            <a:r>
              <a:rPr lang="it-IT" sz="1600" b="1" dirty="0" err="1"/>
              <a:t>StreamBegin</a:t>
            </a:r>
            <a:r>
              <a:rPr lang="it-IT" sz="1600" b="1" dirty="0"/>
              <a:t>: </a:t>
            </a:r>
            <a:r>
              <a:rPr lang="it-IT" sz="1600" dirty="0"/>
              <a:t>Il server trasmette un messaggio User Control (</a:t>
            </a:r>
            <a:r>
              <a:rPr lang="it-IT" sz="1600" dirty="0" err="1"/>
              <a:t>StreamBegin</a:t>
            </a:r>
            <a:r>
              <a:rPr lang="it-IT" sz="1600" dirty="0"/>
              <a:t>) al client. </a:t>
            </a:r>
          </a:p>
          <a:p>
            <a:pPr>
              <a:lnSpc>
                <a:spcPct val="100000"/>
              </a:lnSpc>
            </a:pPr>
            <a:r>
              <a:rPr lang="it-IT" sz="1600" b="1" dirty="0"/>
              <a:t>Esito Finale: </a:t>
            </a:r>
            <a:r>
              <a:rPr lang="it-IT" sz="1600" dirty="0"/>
              <a:t>Il server invia un messaggio di stato (successo o fallimento), includendo l'ID della transazione e dettagli come la versione del Flash Media Server. 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68D8382-1EBF-84A1-B5AA-A1164C9FF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227" y="1481328"/>
            <a:ext cx="4462374" cy="2827736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C2B0913-02A7-FBAF-F6F6-918D99BEC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7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244FA61-C213-5CF4-274D-F7BC68219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</p:spTree>
    <p:extLst>
      <p:ext uri="{BB962C8B-B14F-4D97-AF65-F5344CB8AC3E}">
        <p14:creationId xmlns:p14="http://schemas.microsoft.com/office/powerpoint/2010/main" val="1365712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29C80-21F2-4713-08BA-DED109444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1A7FC9-61F2-6425-7E36-1F1F07F43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RTMP | Create Stream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1599D58-4AD2-A7C1-D487-065107A9C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481328"/>
            <a:ext cx="6870539" cy="4351338"/>
          </a:xfrm>
        </p:spPr>
        <p:txBody>
          <a:bodyPr>
            <a:normAutofit/>
          </a:bodyPr>
          <a:lstStyle/>
          <a:p>
            <a:pPr lvl="0"/>
            <a:r>
              <a:rPr lang="it-IT" sz="1600" b="1" dirty="0" err="1"/>
              <a:t>ReleaseStream</a:t>
            </a:r>
            <a:r>
              <a:rPr lang="it-IT" sz="1600" b="1" dirty="0"/>
              <a:t>:</a:t>
            </a:r>
            <a:r>
              <a:rPr lang="it-IT" sz="1600" dirty="0"/>
              <a:t> Il client invia la stream key per far chiudere forzatamente al server eventuali sessioni precedenti rimaste attive. </a:t>
            </a:r>
          </a:p>
          <a:p>
            <a:pPr lvl="0"/>
            <a:r>
              <a:rPr lang="it-IT" sz="1600" b="1" dirty="0" err="1"/>
              <a:t>FCPublish</a:t>
            </a:r>
            <a:r>
              <a:rPr lang="it-IT" sz="1600" b="1" dirty="0"/>
              <a:t>:</a:t>
            </a:r>
            <a:r>
              <a:rPr lang="it-IT" sz="1600" dirty="0"/>
              <a:t> Il client ripresenta la stream key per richiedere l'autorizzazione a pubblicare. </a:t>
            </a:r>
          </a:p>
          <a:p>
            <a:r>
              <a:rPr lang="it-IT" sz="1600" b="1" dirty="0"/>
              <a:t>Intervento </a:t>
            </a:r>
            <a:r>
              <a:rPr lang="it-IT" sz="1600" b="1" dirty="0" err="1"/>
              <a:t>Webhook</a:t>
            </a:r>
            <a:r>
              <a:rPr lang="it-IT" sz="1600" b="1" dirty="0"/>
              <a:t>:</a:t>
            </a:r>
            <a:r>
              <a:rPr lang="it-IT" sz="1600" dirty="0"/>
              <a:t> Il server RTMP sospende momentaneamente la comunicazione, e inoltra la richiesta tramite HTTP POST al Back-End per la validazione.</a:t>
            </a:r>
          </a:p>
          <a:p>
            <a:r>
              <a:rPr lang="it-IT" sz="1600" b="1" dirty="0" err="1"/>
              <a:t>CreateStream</a:t>
            </a:r>
            <a:r>
              <a:rPr lang="it-IT" sz="1600" b="1" dirty="0"/>
              <a:t>:</a:t>
            </a:r>
            <a:r>
              <a:rPr lang="it-IT" sz="1600" dirty="0"/>
              <a:t> Alla ricezione dell'HTTP 200 OK dal Back-End, il server si sblocca. Il client richiede l'apertura di un canale logico per i media e il server conferma l'operazione restituendo uno Stream ID univoco. 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9749BE4-3AA8-3A48-F2C9-36E54A2292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54" r="10765"/>
          <a:stretch>
            <a:fillRect/>
          </a:stretch>
        </p:blipFill>
        <p:spPr>
          <a:xfrm>
            <a:off x="7886893" y="2704211"/>
            <a:ext cx="3711294" cy="1411196"/>
          </a:xfrm>
          <a:prstGeom prst="rect">
            <a:avLst/>
          </a:prstGeom>
          <a:ln w="3175" cap="sq">
            <a:solidFill>
              <a:schemeClr val="tx1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65E7C03-4E74-F6E6-15C6-E70EA7B607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368"/>
          <a:stretch>
            <a:fillRect/>
          </a:stretch>
        </p:blipFill>
        <p:spPr>
          <a:xfrm>
            <a:off x="7886893" y="1402427"/>
            <a:ext cx="4028052" cy="979819"/>
          </a:xfrm>
          <a:prstGeom prst="rect">
            <a:avLst/>
          </a:prstGeom>
          <a:ln w="3175" cap="sq">
            <a:solidFill>
              <a:schemeClr val="tx1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C5796AFB-AE65-E73F-DD2C-245312670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893" y="4437372"/>
            <a:ext cx="4193894" cy="1597013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556F1A0-E636-97CE-C8AC-4806831A0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8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A950957-4D4A-7766-A32E-74B8270DF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</p:spTree>
    <p:extLst>
      <p:ext uri="{BB962C8B-B14F-4D97-AF65-F5344CB8AC3E}">
        <p14:creationId xmlns:p14="http://schemas.microsoft.com/office/powerpoint/2010/main" val="1608179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ABB9E-3911-8B1E-4979-0F762516D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DE4B26-38CC-2AB9-06BF-F700679C3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RTMP | </a:t>
            </a:r>
            <a:r>
              <a:rPr lang="it-IT" dirty="0" err="1"/>
              <a:t>Publish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B78AC4-11D7-5D9A-7463-5CE5972A0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481328"/>
            <a:ext cx="6870539" cy="4351338"/>
          </a:xfrm>
        </p:spPr>
        <p:txBody>
          <a:bodyPr>
            <a:normAutofit/>
          </a:bodyPr>
          <a:lstStyle/>
          <a:p>
            <a:pPr lvl="0"/>
            <a:r>
              <a:rPr lang="it-IT" sz="1600" b="1" dirty="0"/>
              <a:t>Comando </a:t>
            </a:r>
            <a:r>
              <a:rPr lang="it-IT" sz="1600" b="1" dirty="0" err="1"/>
              <a:t>publish</a:t>
            </a:r>
            <a:r>
              <a:rPr lang="it-IT" sz="1600" b="1" dirty="0"/>
              <a:t>:</a:t>
            </a:r>
            <a:r>
              <a:rPr lang="it-IT" sz="1600" dirty="0"/>
              <a:t> Il client trasmette il nome del flusso e il flag "live" per notificare che è fisicamente pronto a instradare i dati multimediali sul canale allocato. </a:t>
            </a:r>
          </a:p>
          <a:p>
            <a:pPr lvl="0"/>
            <a:r>
              <a:rPr lang="it-IT" sz="1600" b="1" dirty="0" err="1"/>
              <a:t>StreamBegin</a:t>
            </a:r>
            <a:r>
              <a:rPr lang="it-IT" sz="1600" b="1" dirty="0"/>
              <a:t> e </a:t>
            </a:r>
            <a:r>
              <a:rPr lang="it-IT" sz="1600" b="1" dirty="0" err="1"/>
              <a:t>onStatus</a:t>
            </a:r>
            <a:r>
              <a:rPr lang="it-IT" sz="1600" b="1" dirty="0"/>
              <a:t>:</a:t>
            </a:r>
            <a:r>
              <a:rPr lang="it-IT" sz="1600" dirty="0"/>
              <a:t> Il server azzera i timer di sincronizzazione, invia il codice </a:t>
            </a:r>
            <a:r>
              <a:rPr lang="it-IT" sz="1600" dirty="0" err="1"/>
              <a:t>NetStream.Publish.Start</a:t>
            </a:r>
            <a:r>
              <a:rPr lang="it-IT" sz="1600" dirty="0"/>
              <a:t> e si pone in ascolto passivo. </a:t>
            </a:r>
          </a:p>
          <a:p>
            <a:pPr lvl="0"/>
            <a:r>
              <a:rPr lang="it-IT" sz="1600" b="1" dirty="0"/>
              <a:t>Invio dei Metadati:</a:t>
            </a:r>
            <a:r>
              <a:rPr lang="it-IT" sz="1600" dirty="0"/>
              <a:t> Il client comunica unilateralmente le specifiche tecniche della live, come risoluzione, </a:t>
            </a:r>
            <a:r>
              <a:rPr lang="it-IT" sz="1600" dirty="0" err="1"/>
              <a:t>framerate</a:t>
            </a:r>
            <a:r>
              <a:rPr lang="it-IT" sz="1600" dirty="0"/>
              <a:t>, </a:t>
            </a:r>
            <a:r>
              <a:rPr lang="it-IT" sz="1600" dirty="0" err="1"/>
              <a:t>bitrate</a:t>
            </a:r>
            <a:r>
              <a:rPr lang="it-IT" sz="1600" dirty="0"/>
              <a:t> e codec scelti. </a:t>
            </a:r>
          </a:p>
          <a:p>
            <a:pPr lvl="0"/>
            <a:r>
              <a:rPr lang="it-IT" sz="1600" b="1" dirty="0"/>
              <a:t>Trasmissione Media:</a:t>
            </a:r>
            <a:r>
              <a:rPr lang="it-IT" sz="1600" dirty="0"/>
              <a:t> Senza attendere conferme di accettazione dei codec, il client inizia a inviare a ciclo continuo i </a:t>
            </a:r>
            <a:r>
              <a:rPr lang="it-IT" sz="1600" dirty="0" err="1"/>
              <a:t>chunk</a:t>
            </a:r>
            <a:r>
              <a:rPr lang="it-IT" sz="1600" dirty="0"/>
              <a:t> audio e video alternati. 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5CEEF7A4-DF48-F035-19DB-9C89C8D7B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014" y="1481328"/>
            <a:ext cx="4013200" cy="3187700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889F092-23F5-F1C4-0796-31754FB3A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9</a:t>
            </a:fld>
            <a:endParaRPr lang="it-IT"/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1206CA79-4ED1-3E40-7AE5-F23032C4B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</p:spTree>
    <p:extLst>
      <p:ext uri="{BB962C8B-B14F-4D97-AF65-F5344CB8AC3E}">
        <p14:creationId xmlns:p14="http://schemas.microsoft.com/office/powerpoint/2010/main" val="771676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38A67-0FCF-9639-70C5-A2E5C1196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D25FEA-715B-E674-9BDF-2338FF593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RTMP | </a:t>
            </a:r>
            <a:r>
              <a:rPr lang="it-IT" dirty="0" err="1"/>
              <a:t>Overview</a:t>
            </a:r>
            <a:endParaRPr lang="it-IT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0465AF5A-915C-00DA-F26F-9885259A41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9174" y="1893206"/>
            <a:ext cx="10426547" cy="3308185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34FAAB2-5716-8288-BD89-735AF631F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10</a:t>
            </a:fld>
            <a:endParaRPr lang="it-IT"/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1B3F017A-7AA4-4820-E364-107DBBA2C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</p:spTree>
    <p:extLst>
      <p:ext uri="{BB962C8B-B14F-4D97-AF65-F5344CB8AC3E}">
        <p14:creationId xmlns:p14="http://schemas.microsoft.com/office/powerpoint/2010/main" val="1388840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1E2D4AB-E968-F9A4-BE4F-1833A438A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0E0670-43F0-AA50-29BC-0DEC6D9A6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RTMP | Audio Data e Video Data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CD9E2F-1A9C-6A16-C541-5690392C4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481328"/>
            <a:ext cx="7722443" cy="4766360"/>
          </a:xfrm>
        </p:spPr>
        <p:txBody>
          <a:bodyPr>
            <a:noAutofit/>
          </a:bodyPr>
          <a:lstStyle/>
          <a:p>
            <a:r>
              <a:rPr lang="it-IT" sz="1600" dirty="0"/>
              <a:t>Format (1): indica quali campi sono presenti nell’</a:t>
            </a:r>
            <a:r>
              <a:rPr lang="it-IT" sz="1600" dirty="0" err="1"/>
              <a:t>header</a:t>
            </a:r>
            <a:r>
              <a:rPr lang="it-IT" sz="1600" dirty="0"/>
              <a:t>; il formato 1 invia delta, lunghezza e tipo, e riusa il </a:t>
            </a:r>
            <a:r>
              <a:rPr lang="it-IT" sz="1600" dirty="0" err="1"/>
              <a:t>message</a:t>
            </a:r>
            <a:r>
              <a:rPr lang="it-IT" sz="1600" dirty="0"/>
              <a:t> stream ID del messaggio precedente per risparmiare byte</a:t>
            </a:r>
          </a:p>
          <a:p>
            <a:r>
              <a:rPr lang="it-IT" sz="1600" dirty="0" err="1"/>
              <a:t>Chunk</a:t>
            </a:r>
            <a:r>
              <a:rPr lang="it-IT" sz="1600" dirty="0"/>
              <a:t> Stream ID (4): canale logico dei </a:t>
            </a:r>
            <a:r>
              <a:rPr lang="it-IT" sz="1600" dirty="0" err="1"/>
              <a:t>chunk</a:t>
            </a:r>
            <a:r>
              <a:rPr lang="it-IT" sz="1600" dirty="0"/>
              <a:t>, cioè il buffer in cui il ricevente accumula i dati del messaggio</a:t>
            </a:r>
          </a:p>
          <a:p>
            <a:r>
              <a:rPr lang="it-IT" sz="1600" dirty="0" err="1"/>
              <a:t>Timestamp</a:t>
            </a:r>
            <a:r>
              <a:rPr lang="it-IT" sz="1600" dirty="0"/>
              <a:t> delta: millisecondi dal messaggio precedente sullo stesso </a:t>
            </a:r>
            <a:r>
              <a:rPr lang="it-IT" sz="1600" dirty="0" err="1"/>
              <a:t>chunk</a:t>
            </a:r>
            <a:r>
              <a:rPr lang="it-IT" sz="1600" dirty="0"/>
              <a:t> stream (14 per l’audio, 3 per il video)</a:t>
            </a:r>
          </a:p>
          <a:p>
            <a:r>
              <a:rPr lang="it-IT" sz="1600" dirty="0" err="1"/>
              <a:t>Timestamp</a:t>
            </a:r>
            <a:r>
              <a:rPr lang="it-IT" sz="1600" dirty="0"/>
              <a:t> (calcolato): istante di riproduzione ottenuto da </a:t>
            </a:r>
            <a:r>
              <a:rPr lang="it-IT" sz="1600" dirty="0" err="1"/>
              <a:t>Wireshark</a:t>
            </a:r>
            <a:r>
              <a:rPr lang="it-IT" sz="1600" dirty="0"/>
              <a:t> sommando il delta (874 </a:t>
            </a:r>
            <a:r>
              <a:rPr lang="it-IT" sz="1600" dirty="0" err="1"/>
              <a:t>ms</a:t>
            </a:r>
            <a:r>
              <a:rPr lang="it-IT" sz="1600" dirty="0"/>
              <a:t> per l’audio, 877 </a:t>
            </a:r>
            <a:r>
              <a:rPr lang="it-IT" sz="1600" dirty="0" err="1"/>
              <a:t>ms</a:t>
            </a:r>
            <a:r>
              <a:rPr lang="it-IT" sz="1600" dirty="0"/>
              <a:t> per il video)</a:t>
            </a:r>
          </a:p>
          <a:p>
            <a:r>
              <a:rPr lang="it-IT" sz="1600" dirty="0"/>
              <a:t>Body size: lunghezza dell’intero messaggio, non del singolo </a:t>
            </a:r>
            <a:r>
              <a:rPr lang="it-IT" sz="1600" dirty="0" err="1"/>
              <a:t>chunk</a:t>
            </a:r>
            <a:r>
              <a:rPr lang="it-IT" sz="1600" dirty="0"/>
              <a:t> (433 e 9390 byte)</a:t>
            </a:r>
          </a:p>
          <a:p>
            <a:r>
              <a:rPr lang="it-IT" sz="1600" dirty="0" err="1"/>
              <a:t>Type</a:t>
            </a:r>
            <a:r>
              <a:rPr lang="it-IT" sz="1600" dirty="0"/>
              <a:t> ID: tipo di contenuto, 8 per l’audio e 9 per il video. Audio e video usano lo stesso </a:t>
            </a:r>
            <a:r>
              <a:rPr lang="it-IT" sz="1600" dirty="0" err="1"/>
              <a:t>chunk</a:t>
            </a:r>
            <a:r>
              <a:rPr lang="it-IT" sz="1600" dirty="0"/>
              <a:t> stream ID, quindi sono distinti dal </a:t>
            </a:r>
            <a:r>
              <a:rPr lang="it-IT" sz="1600" dirty="0" err="1"/>
              <a:t>Type</a:t>
            </a:r>
            <a:r>
              <a:rPr lang="it-IT" sz="1600" dirty="0"/>
              <a:t>.</a:t>
            </a:r>
          </a:p>
          <a:p>
            <a:endParaRPr lang="it-IT" sz="1600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A3F6A73-894E-32EA-F49E-2F842FCE4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11</a:t>
            </a:fld>
            <a:endParaRPr lang="it-IT"/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E42A71F3-B669-0CAE-391E-89DF861C4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</a:t>
            </a:r>
            <a:r>
              <a:rPr lang="it-IT" dirty="0" err="1"/>
              <a:t>WebRTC</a:t>
            </a:r>
            <a:r>
              <a:rPr lang="it-IT" dirty="0"/>
              <a:t> Rivieccio Tommaso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2FB66B3-F9E7-774A-BA73-B7CCC98FB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103" y="3630394"/>
            <a:ext cx="3582011" cy="2402307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2130AB14-164D-59BF-2915-2C07D51A54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96"/>
          <a:stretch>
            <a:fillRect/>
          </a:stretch>
        </p:blipFill>
        <p:spPr>
          <a:xfrm>
            <a:off x="8422104" y="1481328"/>
            <a:ext cx="3582010" cy="1934080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208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2E55F-F77C-3A3A-F38D-EA03578AE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826EE5-439F-E1D2-C9C6-39C122F9E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Il Server Streaming </a:t>
            </a:r>
            <a:r>
              <a:rPr lang="it-IT" dirty="0" err="1"/>
              <a:t>OvenMediaEngine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AC12E2A-CC1F-03BF-30B1-957C6D3BC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it-IT" sz="2000" dirty="0" err="1"/>
              <a:t>OvenMediaEngine</a:t>
            </a:r>
            <a:r>
              <a:rPr lang="it-IT" sz="2000" dirty="0"/>
              <a:t> opera come server di live streaming ad alte prestazioni, progettato per distribuire video ad alta definizione su larga scala mantenendo una latenza inferiore al secondo. </a:t>
            </a:r>
          </a:p>
          <a:p>
            <a:pPr lvl="0"/>
            <a:r>
              <a:rPr lang="it-IT" sz="2000" dirty="0"/>
              <a:t>Il sistema gestisce un'ampia flessibilità in ingresso, ricevendo segnali tramite protocolli tradizionali e moderni come </a:t>
            </a:r>
            <a:r>
              <a:rPr lang="it-IT" sz="2000" dirty="0" err="1"/>
              <a:t>WebRTC</a:t>
            </a:r>
            <a:r>
              <a:rPr lang="it-IT" sz="2000" dirty="0"/>
              <a:t>, SRT, RTMP ed </a:t>
            </a:r>
            <a:r>
              <a:rPr lang="it-IT" sz="2000" dirty="0" err="1"/>
              <a:t>Enhanced</a:t>
            </a:r>
            <a:r>
              <a:rPr lang="it-IT" sz="2000" dirty="0"/>
              <a:t> RTMP per l'uso di codec avanzati come H.265 e AV1. </a:t>
            </a:r>
          </a:p>
          <a:p>
            <a:pPr lvl="0"/>
            <a:r>
              <a:rPr lang="it-IT" sz="2000" dirty="0"/>
              <a:t>La distribuzione in uscita sfrutta tecnologie a bassissima latenza come </a:t>
            </a:r>
            <a:r>
              <a:rPr lang="it-IT" sz="2000" dirty="0" err="1"/>
              <a:t>WebRTC</a:t>
            </a:r>
            <a:r>
              <a:rPr lang="it-IT" sz="2000" dirty="0"/>
              <a:t> e LL-HLS per eliminare i ritardi tipici delle trasmissioni dal vivo. </a:t>
            </a:r>
          </a:p>
          <a:p>
            <a:pPr lvl="0"/>
            <a:r>
              <a:rPr lang="it-IT" sz="2000" dirty="0"/>
              <a:t>Il motore di transcodifica integrato elabora i flussi in tempo reale convertendo video e audio nei formati desiderati, supportando inoltre la generazione automatica di molteplici profili di qualità per il </a:t>
            </a:r>
            <a:r>
              <a:rPr lang="it-IT" sz="2000" dirty="0" err="1"/>
              <a:t>Bitrate</a:t>
            </a:r>
            <a:r>
              <a:rPr lang="it-IT" sz="2000" dirty="0"/>
              <a:t> Adattivo (ABR). </a:t>
            </a:r>
          </a:p>
          <a:p>
            <a:pPr lvl="0"/>
            <a:r>
              <a:rPr lang="it-IT" sz="2000" dirty="0"/>
              <a:t>La sicurezza e il controllo degli accessi sono affidati a meccanismi di </a:t>
            </a:r>
            <a:r>
              <a:rPr lang="it-IT" sz="2000" dirty="0" err="1"/>
              <a:t>SignedPolicy</a:t>
            </a:r>
            <a:r>
              <a:rPr lang="it-IT" sz="2000" dirty="0"/>
              <a:t> e </a:t>
            </a:r>
            <a:r>
              <a:rPr lang="it-IT" sz="2000" dirty="0" err="1"/>
              <a:t>Admission</a:t>
            </a:r>
            <a:r>
              <a:rPr lang="it-IT" sz="2000" dirty="0"/>
              <a:t> </a:t>
            </a:r>
            <a:r>
              <a:rPr lang="it-IT" sz="2000" dirty="0" err="1"/>
              <a:t>Webhooks</a:t>
            </a:r>
            <a:r>
              <a:rPr lang="it-IT" sz="2000" dirty="0"/>
              <a:t>, consentendo di validare le stream key prima di autorizzare la connessione. </a:t>
            </a:r>
          </a:p>
          <a:p>
            <a:pPr lvl="0"/>
            <a:r>
              <a:rPr lang="it-IT" sz="2000" dirty="0"/>
              <a:t>L'infrastruttura supporta la scalabilità tramite clustering </a:t>
            </a:r>
            <a:r>
              <a:rPr lang="it-IT" sz="2000" dirty="0" err="1"/>
              <a:t>Origin</a:t>
            </a:r>
            <a:r>
              <a:rPr lang="it-IT" sz="2000" dirty="0"/>
              <a:t>-Edge, il re-streaming verso piattaforme esterne e funzionalità avanzate di gestione come la registrazione automatica e la generazione di miniature.</a:t>
            </a:r>
          </a:p>
          <a:p>
            <a:r>
              <a:rPr lang="it-IT" sz="2000" dirty="0"/>
              <a:t>La configurazione del server si basa su un file XML strutturato che gestisce l'intera architettura definendo i parametri di rete, i </a:t>
            </a:r>
            <a:r>
              <a:rPr lang="it-IT" sz="2000" dirty="0" err="1"/>
              <a:t>VirtualHost</a:t>
            </a:r>
            <a:r>
              <a:rPr lang="it-IT" sz="2000" dirty="0"/>
              <a:t> e le applicazioni di streaming.</a:t>
            </a:r>
          </a:p>
          <a:p>
            <a:pPr lvl="0"/>
            <a:endParaRPr lang="it-IT" sz="200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B581BBA-D7EE-F248-8C9E-FAAC8E087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12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2F98CA7-10E4-0E9A-F2F7-77C3FADE8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</p:spTree>
    <p:extLst>
      <p:ext uri="{BB962C8B-B14F-4D97-AF65-F5344CB8AC3E}">
        <p14:creationId xmlns:p14="http://schemas.microsoft.com/office/powerpoint/2010/main" val="2224132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F1B3C-8093-32DF-8FFB-DCB833CF1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102018-AF20-E8D9-DE65-724A7CD6E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OME | Configurazione Globale del Server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E5313D9-0838-3AEE-91F4-A2AEB7831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481328"/>
            <a:ext cx="6980434" cy="4351338"/>
          </a:xfrm>
        </p:spPr>
        <p:txBody>
          <a:bodyPr>
            <a:normAutofit/>
          </a:bodyPr>
          <a:lstStyle/>
          <a:p>
            <a:pPr lvl="0"/>
            <a:r>
              <a:rPr lang="it-IT" sz="1600" dirty="0"/>
              <a:t>Il tag radice dichiara l'uso della versione 8 dello schema di configurazione richiesto da </a:t>
            </a:r>
            <a:r>
              <a:rPr lang="it-IT" sz="1600" dirty="0" err="1"/>
              <a:t>OvenMediaEngine</a:t>
            </a:r>
            <a:r>
              <a:rPr lang="it-IT" sz="1600" dirty="0"/>
              <a:t>.</a:t>
            </a:r>
          </a:p>
          <a:p>
            <a:pPr lvl="0"/>
            <a:r>
              <a:rPr lang="it-IT" sz="1600" dirty="0"/>
              <a:t>Il parametro &lt;</a:t>
            </a:r>
            <a:r>
              <a:rPr lang="it-IT" sz="1600" dirty="0" err="1"/>
              <a:t>Type</a:t>
            </a:r>
            <a:r>
              <a:rPr lang="it-IT" sz="1600" dirty="0"/>
              <a:t>&gt; definisce il ruolo del server impostandolo come </a:t>
            </a:r>
            <a:r>
              <a:rPr lang="it-IT" sz="1600" dirty="0" err="1"/>
              <a:t>origin</a:t>
            </a:r>
            <a:r>
              <a:rPr lang="it-IT" sz="1600" dirty="0"/>
              <a:t>, il nodo principale responsabile della ricezione dei flussi da OBS, della validazione e del </a:t>
            </a:r>
            <a:r>
              <a:rPr lang="it-IT" sz="1600" dirty="0" err="1"/>
              <a:t>transcoding</a:t>
            </a:r>
            <a:r>
              <a:rPr lang="it-IT" sz="1600" dirty="0"/>
              <a:t>.</a:t>
            </a:r>
          </a:p>
          <a:p>
            <a:pPr lvl="0"/>
            <a:r>
              <a:rPr lang="it-IT" sz="1600" dirty="0"/>
              <a:t>L'indirizzo di ascolto IP viene configurato con l'asteriscò (*), equivalente a 0.0.0.0, per accettare connessioni da qualsiasi scheda di rete o container.</a:t>
            </a:r>
          </a:p>
          <a:p>
            <a:pPr lvl="0"/>
            <a:r>
              <a:rPr lang="it-IT" sz="1600" dirty="0"/>
              <a:t>La protezione della privacy (</a:t>
            </a:r>
            <a:r>
              <a:rPr lang="it-IT" sz="1600" dirty="0" err="1"/>
              <a:t>PrivacyProtection</a:t>
            </a:r>
            <a:r>
              <a:rPr lang="it-IT" sz="1600" dirty="0"/>
              <a:t>) viene disattivata per facilitare la fase di debug e visualizzare chiaramente gli IP e gli URL nei log di sistema.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180D220-7819-48D7-FC20-142A5CC1D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349" y="1481328"/>
            <a:ext cx="4145563" cy="1260475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86F2B62-7982-5248-801D-7C8448ED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13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DA32BAB-57F5-0A8C-2161-D55120F87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</p:spTree>
    <p:extLst>
      <p:ext uri="{BB962C8B-B14F-4D97-AF65-F5344CB8AC3E}">
        <p14:creationId xmlns:p14="http://schemas.microsoft.com/office/powerpoint/2010/main" val="2491665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72A3F-1564-8362-ECDD-592E061AD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87A254-A580-1DD9-4156-B3329CCFB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OME | Moduli Interni e Gestione Risorse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992F313-F474-4DCC-CE85-6C5EB2D99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481328"/>
            <a:ext cx="6980434" cy="4351338"/>
          </a:xfrm>
        </p:spPr>
        <p:txBody>
          <a:bodyPr>
            <a:normAutofit/>
          </a:bodyPr>
          <a:lstStyle/>
          <a:p>
            <a:pPr lvl="0"/>
            <a:r>
              <a:rPr lang="it-IT" sz="1600" dirty="0"/>
              <a:t>Viene abilitato globalmente il supporto al protocollo HTTP/2 per ottimizzare il trasferimento dei dati via web.</a:t>
            </a:r>
          </a:p>
          <a:p>
            <a:pPr lvl="0"/>
            <a:r>
              <a:rPr lang="it-IT" sz="1600" dirty="0"/>
              <a:t>Il modulo LLHLS viene acceso a livello globale per consentire la distribuzione a bassissima latenza basata sullo standard CMAF.</a:t>
            </a:r>
          </a:p>
          <a:p>
            <a:pPr lvl="0"/>
            <a:r>
              <a:rPr lang="it-IT" sz="1600" dirty="0"/>
              <a:t>Viene configurato l'allocatore di memoria ad alte prestazioni </a:t>
            </a:r>
            <a:r>
              <a:rPr lang="it-IT" sz="1600" dirty="0" err="1"/>
              <a:t>Jemalloc</a:t>
            </a:r>
            <a:r>
              <a:rPr lang="it-IT" sz="1600" dirty="0"/>
              <a:t> attivando il </a:t>
            </a:r>
            <a:r>
              <a:rPr lang="it-IT" sz="1600" dirty="0" err="1"/>
              <a:t>purge</a:t>
            </a:r>
            <a:r>
              <a:rPr lang="it-IT" sz="1600" dirty="0"/>
              <a:t> in background per la gestione efficiente della RAM in C++.</a:t>
            </a:r>
          </a:p>
          <a:p>
            <a:pPr lvl="0"/>
            <a:r>
              <a:rPr lang="it-IT" sz="1600" dirty="0"/>
              <a:t>Il pool dei task viene dimensionato impostando il numero di </a:t>
            </a:r>
            <a:r>
              <a:rPr lang="it-IT" sz="1600" dirty="0" err="1"/>
              <a:t>thread</a:t>
            </a:r>
            <a:r>
              <a:rPr lang="it-IT" sz="1600" dirty="0"/>
              <a:t> a 8 e un limite massimo di 256 task per gestire rapidamente le operazioni asincrone.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6B45E1C-5FDD-5885-D9A5-8E90E214D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882" y="1481328"/>
            <a:ext cx="3667979" cy="2769870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4DB6206-0770-0B88-2145-36774BFF3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14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C7BCFC3-EF01-3F96-28C6-2E6C6F8A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</p:spTree>
    <p:extLst>
      <p:ext uri="{BB962C8B-B14F-4D97-AF65-F5344CB8AC3E}">
        <p14:creationId xmlns:p14="http://schemas.microsoft.com/office/powerpoint/2010/main" val="811154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786B4-81EF-2751-47F6-360A7107A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DA7602-4031-F5D8-7CD0-0951202AB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OME | Apertura delle Porte di Rete e </a:t>
            </a:r>
            <a:r>
              <a:rPr lang="it-IT" dirty="0" err="1"/>
              <a:t>Bind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96865A9-D12C-AF35-BB70-0B605D034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481328"/>
            <a:ext cx="6980434" cy="4351338"/>
          </a:xfrm>
        </p:spPr>
        <p:txBody>
          <a:bodyPr>
            <a:normAutofit/>
          </a:bodyPr>
          <a:lstStyle/>
          <a:p>
            <a:pPr lvl="0"/>
            <a:r>
              <a:rPr lang="it-IT" sz="1600" dirty="0"/>
              <a:t>Il blocco dei provider definisce le porte in ingresso, riservando la 1935 (con 2 worker dedicati) per l'ascolto dei flussi RTMP trasmessi da OBS Studio.</a:t>
            </a:r>
          </a:p>
          <a:p>
            <a:pPr lvl="0"/>
            <a:r>
              <a:rPr lang="it-IT" sz="1600" dirty="0"/>
              <a:t>Il blocco dei publisher configura le porte in uscita, assegnando la porta 3333 (con 4 worker) per la distribuzione dei flussi LLHLS verso i player web.</a:t>
            </a:r>
          </a:p>
          <a:p>
            <a:pPr lvl="0"/>
            <a:r>
              <a:rPr lang="it-IT" sz="1600" dirty="0"/>
              <a:t>Vengono impostate le direttive globali per il supporto CORS, consentendo l'accesso e l'interrogazione delle risorse solo da parte del container che ospita il Front-End e la libraria </a:t>
            </a:r>
            <a:r>
              <a:rPr lang="it-IT" sz="1600" dirty="0" err="1"/>
              <a:t>hls.js</a:t>
            </a:r>
            <a:r>
              <a:rPr lang="it-IT" sz="1600" dirty="0"/>
              <a:t>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F0E4908-3F89-046B-9293-730BA1537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041" y="1481328"/>
            <a:ext cx="3322299" cy="3749834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2979687-A9DA-7E7E-9FD2-1E6929E8E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15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31C0C02-CE47-4312-0027-9E216C1B7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</p:spTree>
    <p:extLst>
      <p:ext uri="{BB962C8B-B14F-4D97-AF65-F5344CB8AC3E}">
        <p14:creationId xmlns:p14="http://schemas.microsoft.com/office/powerpoint/2010/main" val="2250466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B145B-FBB5-06D9-CE66-AD736F6FD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802A4A-CB56-B99E-D0D0-5CAFF7DE1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OME | Virtual Host e Sicurezza </a:t>
            </a:r>
            <a:r>
              <a:rPr lang="it-IT" dirty="0" err="1"/>
              <a:t>Webhook</a:t>
            </a:r>
            <a:r>
              <a:rPr lang="it-IT" dirty="0"/>
              <a:t>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29700D-5883-0A3A-4FDA-2F2258184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481328"/>
            <a:ext cx="6511290" cy="4351338"/>
          </a:xfrm>
        </p:spPr>
        <p:txBody>
          <a:bodyPr>
            <a:normAutofit/>
          </a:bodyPr>
          <a:lstStyle/>
          <a:p>
            <a:pPr lvl="0"/>
            <a:r>
              <a:rPr lang="it-IT" sz="1600" dirty="0"/>
              <a:t>Viene configurato il </a:t>
            </a:r>
            <a:r>
              <a:rPr lang="it-IT" sz="1600" dirty="0" err="1"/>
              <a:t>VirtualHost</a:t>
            </a:r>
            <a:r>
              <a:rPr lang="it-IT" sz="1600" dirty="0"/>
              <a:t> principale associato al dominio di riferimento del progetto, mettendolo in ascolto su qualsiasi nome </a:t>
            </a:r>
            <a:r>
              <a:rPr lang="it-IT" sz="1600" dirty="0" err="1"/>
              <a:t>host</a:t>
            </a:r>
            <a:r>
              <a:rPr lang="it-IT" sz="1600" dirty="0"/>
              <a:t> (*).</a:t>
            </a:r>
          </a:p>
          <a:p>
            <a:pPr lvl="0"/>
            <a:r>
              <a:rPr lang="it-IT" sz="1600" dirty="0"/>
              <a:t>Il blocco degli </a:t>
            </a:r>
            <a:r>
              <a:rPr lang="it-IT" sz="1600" dirty="0" err="1"/>
              <a:t>AdmissionWebhooks</a:t>
            </a:r>
            <a:r>
              <a:rPr lang="it-IT" sz="1600" dirty="0"/>
              <a:t> indica l'indirizzo esatto dell'endpoint </a:t>
            </a:r>
            <a:r>
              <a:rPr lang="it-IT" sz="1600" dirty="0" err="1"/>
              <a:t>Node.js</a:t>
            </a:r>
            <a:r>
              <a:rPr lang="it-IT" sz="1600" dirty="0"/>
              <a:t> esterno da interrogare prima di accettare lo streaming.</a:t>
            </a:r>
          </a:p>
          <a:p>
            <a:pPr lvl="0"/>
            <a:r>
              <a:rPr lang="it-IT" sz="1600" dirty="0"/>
              <a:t>Viene definita la chiave segreta condivisa (&lt;</a:t>
            </a:r>
            <a:r>
              <a:rPr lang="it-IT" sz="1600" dirty="0" err="1"/>
              <a:t>SecretKey</a:t>
            </a:r>
            <a:r>
              <a:rPr lang="it-IT" sz="1600" dirty="0"/>
              <a:t>&gt;) e un </a:t>
            </a:r>
            <a:r>
              <a:rPr lang="it-IT" sz="1600" dirty="0" err="1"/>
              <a:t>timeout</a:t>
            </a:r>
            <a:r>
              <a:rPr lang="it-IT" sz="1600" dirty="0"/>
              <a:t> di 3 millisecondi per la validazione crittografica tramite firma HMAC.</a:t>
            </a:r>
          </a:p>
          <a:p>
            <a:pPr lvl="0"/>
            <a:r>
              <a:rPr lang="it-IT" sz="1600" dirty="0"/>
              <a:t>Il sistema viene istruito ad applicare il controllo di ammissione selettivamente sui provider RTMP e sui publisher LLHLS.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CF3A92D-149A-5DD0-3B30-65542A4B3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978" y="1510356"/>
            <a:ext cx="4848715" cy="2849245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C93E0-2E99-0410-22AE-CF6EF3F8A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16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BCE7FAA-86D7-EB60-ED73-06C0E7F0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</p:spTree>
    <p:extLst>
      <p:ext uri="{BB962C8B-B14F-4D97-AF65-F5344CB8AC3E}">
        <p14:creationId xmlns:p14="http://schemas.microsoft.com/office/powerpoint/2010/main" val="2692666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1BDF6-7EF0-1494-6FA4-FB2ACEA3C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3DAA65-18F0-98B8-4D74-2230FDA92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OME | Applicazioni, Transcodifica e ABR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EB2F8F5-0432-500D-133F-19F34CD78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481328"/>
            <a:ext cx="6271260" cy="4667251"/>
          </a:xfrm>
        </p:spPr>
        <p:txBody>
          <a:bodyPr>
            <a:normAutofit lnSpcReduction="10000"/>
          </a:bodyPr>
          <a:lstStyle/>
          <a:p>
            <a:pPr lvl="0"/>
            <a:r>
              <a:rPr lang="it-IT" sz="1600" dirty="0"/>
              <a:t>Il blocco &lt;Application&gt; definisce lo spazio logico denominato "app", che costituisce il percorso di base comune sia agli URL di OBS che a quelli del player.</a:t>
            </a:r>
          </a:p>
          <a:p>
            <a:pPr lvl="0"/>
            <a:r>
              <a:rPr lang="it-IT" sz="1600" dirty="0"/>
              <a:t>Viene impostato il motore di transcodifica integrato con un profilo di </a:t>
            </a:r>
            <a:r>
              <a:rPr lang="it-IT" sz="1600" dirty="0" err="1"/>
              <a:t>Bitrate</a:t>
            </a:r>
            <a:r>
              <a:rPr lang="it-IT" sz="1600" dirty="0"/>
              <a:t> Adattivo (ABR) suddiviso in tre varianti di risoluzione video (1080p, 720p e 480p) e una traccia audio AAC.</a:t>
            </a:r>
          </a:p>
          <a:p>
            <a:pPr lvl="0"/>
            <a:r>
              <a:rPr lang="it-IT" sz="1600" dirty="0"/>
              <a:t>Ciascun profilo video sfrutta la funzione di </a:t>
            </a:r>
            <a:r>
              <a:rPr lang="it-IT" sz="1600" dirty="0" err="1"/>
              <a:t>BypassIfMatch</a:t>
            </a:r>
            <a:r>
              <a:rPr lang="it-IT" sz="1600" dirty="0"/>
              <a:t>: se OBS invia nativamente un flusso con le stesse caratteristiche, il server salta la ricodifica azzerando l'uso della CPU e preservando la qualità originale a 60 fps.</a:t>
            </a:r>
          </a:p>
          <a:p>
            <a:pPr lvl="0"/>
            <a:r>
              <a:rPr lang="it-IT" sz="1600" dirty="0"/>
              <a:t>Il publisher LLHLS interno viene configurato con una durata dei segmenti di 6 secondi e micro-frammenti parziali (</a:t>
            </a:r>
            <a:r>
              <a:rPr lang="it-IT" sz="1600" dirty="0" err="1"/>
              <a:t>ChunkDuration</a:t>
            </a:r>
            <a:r>
              <a:rPr lang="it-IT" sz="1600" dirty="0"/>
              <a:t> di 0.5s) per garantire una latenza inferiore ai 3 secondi lato spettatore.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8E4DF4A-133A-CD8D-E2E1-18121B440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895" y="1095489"/>
            <a:ext cx="3988205" cy="3314700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9FB5B270-0AAE-6E8E-ECA8-7DF7CC74D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0895" y="4559639"/>
            <a:ext cx="3588254" cy="2177143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4A29FED-9B36-A84B-BEF1-860460D48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17</a:t>
            </a:fld>
            <a:endParaRPr lang="it-IT"/>
          </a:p>
        </p:txBody>
      </p:sp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38B1AC40-93BB-0155-85C0-24DFED2D4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</p:spTree>
    <p:extLst>
      <p:ext uri="{BB962C8B-B14F-4D97-AF65-F5344CB8AC3E}">
        <p14:creationId xmlns:p14="http://schemas.microsoft.com/office/powerpoint/2010/main" val="4241371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093AC-A683-009B-9542-C34026D6B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216DF4-B3F5-BE98-59B8-FBA721E3E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Back-End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2ABF53-1700-0FF5-1345-DC3677701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481328"/>
            <a:ext cx="10515600" cy="4599432"/>
          </a:xfrm>
        </p:spPr>
        <p:txBody>
          <a:bodyPr>
            <a:normAutofit/>
          </a:bodyPr>
          <a:lstStyle/>
          <a:p>
            <a:pPr lvl="0"/>
            <a:r>
              <a:rPr lang="it-IT" sz="1600" dirty="0"/>
              <a:t>Sviluppo interamente in </a:t>
            </a:r>
            <a:r>
              <a:rPr lang="it-IT" sz="1600" dirty="0" err="1"/>
              <a:t>Node.js</a:t>
            </a:r>
            <a:r>
              <a:rPr lang="it-IT" sz="1600" dirty="0"/>
              <a:t>, con </a:t>
            </a:r>
            <a:r>
              <a:rPr lang="it-IT" sz="1600" dirty="0" err="1"/>
              <a:t>deploy</a:t>
            </a:r>
            <a:r>
              <a:rPr lang="it-IT" sz="1600" dirty="0"/>
              <a:t> gestito tramite un container basato su un'immagine ottimizzata. </a:t>
            </a:r>
          </a:p>
          <a:p>
            <a:pPr lvl="0"/>
            <a:r>
              <a:rPr lang="it-IT" sz="1600" dirty="0"/>
              <a:t>Esposizione di REST API dedicate all'interazione con il database per l'esecuzione delle operazioni CRUD. </a:t>
            </a:r>
          </a:p>
          <a:p>
            <a:pPr lvl="0"/>
            <a:r>
              <a:rPr lang="it-IT" sz="1600" dirty="0"/>
              <a:t>Gestione delle sessioni utente tramite cookie memorizzati e tracciati direttamente nel database. </a:t>
            </a:r>
          </a:p>
          <a:p>
            <a:pPr lvl="0"/>
            <a:r>
              <a:rPr lang="it-IT" sz="1600" dirty="0"/>
              <a:t>Organizzazione degli endpoint secondo uno standard di nomenclatura, suddivisi in rotte pubbliche e private. </a:t>
            </a:r>
          </a:p>
          <a:p>
            <a:pPr lvl="0"/>
            <a:r>
              <a:rPr lang="it-IT" sz="1600" dirty="0"/>
              <a:t>L'accesso alle API private richiede obbligatoriamente un cookie di sessione valido per scadenza e verificato all'interno del DB.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9A4CDB9-EE46-ADD8-C7F3-047085433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18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F8DEFB0-D61B-A407-676B-95AB28E7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</p:spTree>
    <p:extLst>
      <p:ext uri="{BB962C8B-B14F-4D97-AF65-F5344CB8AC3E}">
        <p14:creationId xmlns:p14="http://schemas.microsoft.com/office/powerpoint/2010/main" val="3701896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C5443-50ED-D961-61B8-47AF231C6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7632A2-109B-D57B-F32A-7947A903F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Database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69816A3-BAB0-E79F-2524-C81A24922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481328"/>
            <a:ext cx="7066023" cy="4351338"/>
          </a:xfrm>
        </p:spPr>
        <p:txBody>
          <a:bodyPr>
            <a:normAutofit/>
          </a:bodyPr>
          <a:lstStyle/>
          <a:p>
            <a:pPr lvl="0"/>
            <a:r>
              <a:rPr lang="it-IT" sz="1600" dirty="0"/>
              <a:t>Adozione di MySQL come DBMS a supporto del Back-End, distribuito e gestito tramite un container Docker e un volume dedicato per la persistenza. </a:t>
            </a:r>
          </a:p>
          <a:p>
            <a:pPr lvl="0"/>
            <a:r>
              <a:rPr lang="it-IT" sz="1600" dirty="0"/>
              <a:t>Memorizzazione dei dati del profilo e delle rispettive stream key all'interno della tabella principale degli utenti. </a:t>
            </a:r>
          </a:p>
          <a:p>
            <a:pPr lvl="0"/>
            <a:r>
              <a:rPr lang="it-IT" sz="1600" dirty="0"/>
              <a:t>Gestione e tracciamento delle iscrizioni ai canali attraverso una struttura relazionale specifica. </a:t>
            </a:r>
          </a:p>
          <a:p>
            <a:pPr lvl="0"/>
            <a:r>
              <a:rPr lang="it-IT" sz="1600" dirty="0"/>
              <a:t>Archiviazione completa dello storico delle dirette per mantenere traccia delle trasmissioni terminate. </a:t>
            </a:r>
          </a:p>
          <a:p>
            <a:pPr lvl="0"/>
            <a:r>
              <a:rPr lang="it-IT" sz="1600" dirty="0"/>
              <a:t>Salvataggio e validazione dei cookie di sessione direttamente a database per garantire il mantenimento sicuro degli accessi. 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D540C3A5-5179-02D4-70D4-5B2E19597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709" y="1481328"/>
            <a:ext cx="4114800" cy="3683000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BA3B0D4-654C-3AAF-75AE-FF4A3EF15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19</a:t>
            </a:fld>
            <a:endParaRPr lang="it-IT"/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1C3AD065-7AA9-B21F-1791-CDC45DA6D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</p:spTree>
    <p:extLst>
      <p:ext uri="{BB962C8B-B14F-4D97-AF65-F5344CB8AC3E}">
        <p14:creationId xmlns:p14="http://schemas.microsoft.com/office/powerpoint/2010/main" val="3681503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BE075-43E1-AABD-E306-4D70AF0E0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EF5127-E8C2-72E7-EA4B-B174CCC20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REST API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073A24C-D937-F366-8368-6DFF778DA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481328"/>
            <a:ext cx="7067309" cy="4351338"/>
          </a:xfrm>
        </p:spPr>
        <p:txBody>
          <a:bodyPr>
            <a:normAutofit/>
          </a:bodyPr>
          <a:lstStyle/>
          <a:p>
            <a:pPr lvl="0"/>
            <a:r>
              <a:rPr lang="it-IT" sz="1600" dirty="0"/>
              <a:t>Il rilascio del cookie sicuro avviene direttamente sul client a seguito di un'autenticazione andata a buon fine, memorizzando un identificativo di sessione unico.</a:t>
            </a:r>
          </a:p>
          <a:p>
            <a:pPr lvl="0"/>
            <a:r>
              <a:rPr lang="it-IT" sz="1600" dirty="0"/>
              <a:t>La persistenza dei dati viene garantita salvando traccia attiva delle sessioni all'interno della specifica tabella dedicata nel database, consentendo un controllo puntuale.</a:t>
            </a:r>
          </a:p>
          <a:p>
            <a:pPr lvl="0"/>
            <a:r>
              <a:rPr lang="it-IT" sz="1600" dirty="0"/>
              <a:t>Il browser si occupa di allegare automaticamente il cookie protetto durante l'invio delle richieste successive verso gli endpoint riservati.</a:t>
            </a:r>
          </a:p>
          <a:p>
            <a:pPr lvl="0"/>
            <a:r>
              <a:rPr lang="it-IT" sz="1600" dirty="0"/>
              <a:t>Un middleware dedicato intercetta la chiamata, validando l'esistenza del cookie a database e verificandone la corretta scadenza temporale prima di autorizzare l'accesso alle risorse private.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79D9AA4-6B3C-211E-5789-3A4BB69A7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118" y="1111170"/>
            <a:ext cx="3873039" cy="5220182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43D8115-0EC2-36FE-7BBF-33B9A0973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20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6E677A3-E3E8-62A7-DC37-313D37858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</p:spTree>
    <p:extLst>
      <p:ext uri="{BB962C8B-B14F-4D97-AF65-F5344CB8AC3E}">
        <p14:creationId xmlns:p14="http://schemas.microsoft.com/office/powerpoint/2010/main" val="544768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8CC15-6043-6C23-A533-FC1FED5A9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0FD820-33D7-5DEA-DA72-3A7823FCC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M2M Auth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48F1B07-B258-1ABA-F0AA-8955C9658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481328"/>
            <a:ext cx="6638689" cy="4599432"/>
          </a:xfrm>
        </p:spPr>
        <p:txBody>
          <a:bodyPr>
            <a:normAutofit/>
          </a:bodyPr>
          <a:lstStyle/>
          <a:p>
            <a:pPr lvl="0"/>
            <a:r>
              <a:rPr lang="it-IT" sz="1600" dirty="0"/>
              <a:t>L'endpoint del Back-End riceve una chiamata automatica in background direttamente dal server multimediale all'apertura o alla chiusura dei flussi video.</a:t>
            </a:r>
          </a:p>
          <a:p>
            <a:pPr lvl="0"/>
            <a:r>
              <a:rPr lang="it-IT" sz="1600" dirty="0"/>
              <a:t>Viene eseguita una verifica crittografica preventiva tramite la firma HMAC-SHA1 e una chiave segreta condivisa per bloccare all'istante qualsiasi richiesta non autorizzata.</a:t>
            </a:r>
          </a:p>
          <a:p>
            <a:pPr lvl="0"/>
            <a:r>
              <a:rPr lang="it-IT" sz="1600" dirty="0"/>
              <a:t>Il sistema estrae i dati dall'URL e interroga il database per validare la stream key associata all'utente durante la fase di avvio della diretta.</a:t>
            </a:r>
          </a:p>
          <a:p>
            <a:r>
              <a:rPr lang="it-IT" sz="1600" dirty="0"/>
              <a:t>In base allo stato comunicato, il Back-End gestisce in modo asincrono l'apertura o la chiusura dello stream, aggiornando lo storico e attivando o spegnendo le risorse connesse come la chat.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B76B846-F51D-BDFF-736D-B14CEE26F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8B1398C-37A0-477A-3CAD-4C4F2AE44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29AF668E-324D-5056-8EC7-502032891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465" y="1481328"/>
            <a:ext cx="3542679" cy="1470307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F8C3294C-32B8-6F24-DAA9-BF83D33B8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465" y="3374571"/>
            <a:ext cx="4182053" cy="1470307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9" name="Cornice 8">
            <a:extLst>
              <a:ext uri="{FF2B5EF4-FFF2-40B4-BE49-F238E27FC236}">
                <a16:creationId xmlns:a16="http://schemas.microsoft.com/office/drawing/2014/main" id="{B9B34223-4858-61BD-A78E-5C19D3DF723C}"/>
              </a:ext>
            </a:extLst>
          </p:cNvPr>
          <p:cNvSpPr/>
          <p:nvPr/>
        </p:nvSpPr>
        <p:spPr>
          <a:xfrm>
            <a:off x="9667875" y="2528521"/>
            <a:ext cx="371475" cy="103554"/>
          </a:xfrm>
          <a:prstGeom prst="fram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0" name="Cornice 9">
            <a:extLst>
              <a:ext uri="{FF2B5EF4-FFF2-40B4-BE49-F238E27FC236}">
                <a16:creationId xmlns:a16="http://schemas.microsoft.com/office/drawing/2014/main" id="{7B153117-5174-1349-79AE-EC72EE013DF9}"/>
              </a:ext>
            </a:extLst>
          </p:cNvPr>
          <p:cNvSpPr/>
          <p:nvPr/>
        </p:nvSpPr>
        <p:spPr>
          <a:xfrm>
            <a:off x="10834260" y="4401771"/>
            <a:ext cx="402065" cy="122604"/>
          </a:xfrm>
          <a:prstGeom prst="fram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4634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3F8FD-847F-A0E7-6413-8F7A11FE9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869974-4AFF-0100-68BC-881F3A9A9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Chat Room Effimera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2F3B6C3-A766-FA5F-997E-C298C2C78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481328"/>
            <a:ext cx="10515600" cy="4599432"/>
          </a:xfrm>
        </p:spPr>
        <p:txBody>
          <a:bodyPr>
            <a:normAutofit/>
          </a:bodyPr>
          <a:lstStyle/>
          <a:p>
            <a:r>
              <a:rPr lang="it-IT" sz="1600" dirty="0"/>
              <a:t>L'architettura utilizza la libreria </a:t>
            </a:r>
            <a:r>
              <a:rPr lang="it-IT" sz="1600" dirty="0" err="1"/>
              <a:t>WebSocket</a:t>
            </a:r>
            <a:r>
              <a:rPr lang="it-IT" sz="1600" dirty="0"/>
              <a:t> per istanziare un server dedicato su un percorso specifico basato sull’username dello streamer, gestendo le stanze di chat suddivise per singolo canale. </a:t>
            </a:r>
          </a:p>
          <a:p>
            <a:r>
              <a:rPr lang="it-IT" sz="1600" dirty="0"/>
              <a:t>Una struttura in memoria aggrega tutte le connessioni degli utenti connessi alla chat per gestire l’invio broadcast.</a:t>
            </a:r>
          </a:p>
          <a:p>
            <a:pPr lvl="0"/>
            <a:r>
              <a:rPr lang="it-IT" sz="1600" dirty="0"/>
              <a:t>Viene effettuato un controllo preliminare di sicurezza interrogando il database per verificare che il canale richiesto sia effettivamente in onda, bloccando la connessione in caso contrario.</a:t>
            </a:r>
          </a:p>
          <a:p>
            <a:pPr lvl="0"/>
            <a:r>
              <a:rPr lang="it-IT" sz="1600" dirty="0"/>
              <a:t>L'autenticazione dell'utente sfrutta l'estrazione manuale del cookie di sessione </a:t>
            </a:r>
            <a:r>
              <a:rPr lang="it-IT" sz="1600" dirty="0" err="1"/>
              <a:t>sid</a:t>
            </a:r>
            <a:r>
              <a:rPr lang="it-IT" sz="1600" dirty="0"/>
              <a:t>, validandone la scadenza direttamente tramite una query sul database all'apertura del </a:t>
            </a:r>
            <a:r>
              <a:rPr lang="it-IT" sz="1600" dirty="0" err="1"/>
              <a:t>socket</a:t>
            </a:r>
            <a:r>
              <a:rPr lang="it-IT" sz="1600" dirty="0"/>
              <a:t> durante la fase di upgrade.</a:t>
            </a:r>
          </a:p>
          <a:p>
            <a:pPr lvl="0"/>
            <a:r>
              <a:rPr lang="it-IT" sz="1600" dirty="0"/>
              <a:t>I messaggi inviati vengono gestiti attraverso un buffer circolare che mantiene in memoria gli ultimi venti elementi della cronologia, distribuendoli poi a tutti i client connessi tramite un meccanismo di broadcast.</a:t>
            </a:r>
          </a:p>
          <a:p>
            <a:pPr lvl="0"/>
            <a:r>
              <a:rPr lang="it-IT" sz="1600" dirty="0"/>
              <a:t>Alla chiusura della stream sia la chat room che lo storico vengono eliminate.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D993D74-D9CE-2EF8-DAEC-1018BB66A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4711CE1-E433-557C-9D9E-EC65F4AE7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008538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04394-3F96-2F20-A3AA-BB86C9203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0F363D-6F6E-2BCF-A52B-D058B7871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Egress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04D9F2-3544-7A0F-CC35-3B4B72D18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59" y="1481328"/>
            <a:ext cx="7619997" cy="4922417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it-IT" sz="1600" dirty="0"/>
              <a:t>Il server multimediale implementa lo streaming a </a:t>
            </a:r>
            <a:r>
              <a:rPr lang="it-IT" sz="1600" dirty="0" err="1"/>
              <a:t>bitrate</a:t>
            </a:r>
            <a:r>
              <a:rPr lang="it-IT" sz="1600" dirty="0"/>
              <a:t> adattivo (ABR), generando simultaneamente versioni a qualità decrescenti della stessa diretta per permettere al player di adattarsi dinamicamente alla velocità di rete. </a:t>
            </a:r>
          </a:p>
          <a:p>
            <a:pPr lvl="0"/>
            <a:r>
              <a:rPr lang="it-IT" sz="1600" dirty="0"/>
              <a:t>L'adozione del protocollo HLS standard garantisce la massima compatibilità e la capacità di sfruttare il normale traffico HTTP superando i firewall aziendali, pur introducendo una latenza elevata dovuta all'attesa di segmenti completi da 6-10 secondi. </a:t>
            </a:r>
          </a:p>
          <a:p>
            <a:pPr lvl="0"/>
            <a:r>
              <a:rPr lang="it-IT" sz="1600" dirty="0"/>
              <a:t>Il passaggio a Low-</a:t>
            </a:r>
            <a:r>
              <a:rPr lang="it-IT" sz="1600" dirty="0" err="1"/>
              <a:t>Latency</a:t>
            </a:r>
            <a:r>
              <a:rPr lang="it-IT" sz="1600" dirty="0"/>
              <a:t> HLS (LL-HLS) abbatte i ritardi sotto i 3 secondi suddividendo i segmenti in micro-frammenti indipendenti pronti per essere scaricati subito. </a:t>
            </a:r>
          </a:p>
          <a:p>
            <a:pPr lvl="0"/>
            <a:r>
              <a:rPr lang="it-IT" sz="1600" dirty="0"/>
              <a:t>La sincronizzazione avanzata si basa su richieste HTTP bloccate in attesa (</a:t>
            </a:r>
            <a:r>
              <a:rPr lang="it-IT" sz="1600" dirty="0" err="1"/>
              <a:t>Blocking</a:t>
            </a:r>
            <a:r>
              <a:rPr lang="it-IT" sz="1600" dirty="0"/>
              <a:t> </a:t>
            </a:r>
            <a:r>
              <a:rPr lang="it-IT" sz="1600" dirty="0" err="1"/>
              <a:t>Reload</a:t>
            </a:r>
            <a:r>
              <a:rPr lang="it-IT" sz="1600" dirty="0"/>
              <a:t>) che trattengono la risposta fino alla generazione esatta del micro-frammento. </a:t>
            </a:r>
          </a:p>
          <a:p>
            <a:pPr lvl="0"/>
            <a:r>
              <a:rPr lang="it-IT" sz="1600" dirty="0"/>
              <a:t>I meccanismi di </a:t>
            </a:r>
            <a:r>
              <a:rPr lang="it-IT" sz="1600" dirty="0" err="1"/>
              <a:t>Preload</a:t>
            </a:r>
            <a:r>
              <a:rPr lang="it-IT" sz="1600" dirty="0"/>
              <a:t> </a:t>
            </a:r>
            <a:r>
              <a:rPr lang="it-IT" sz="1600" dirty="0" err="1"/>
              <a:t>Hints</a:t>
            </a:r>
            <a:r>
              <a:rPr lang="it-IT" sz="1600" dirty="0"/>
              <a:t> e Rendition Reports informano in anticipo il player sui prossimi file, consentendo cambi di risoluzione fluidi e reattivi anche in condizioni di latenza bassissima.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723116C-344E-3735-9116-78F1FFEF6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F6CF55C-2A86-2CA0-DC8E-05E9E7734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B060EC9-D589-B4BF-E7D0-6CFC33A29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2219" y="3710750"/>
            <a:ext cx="3894147" cy="2388561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E61AD129-B07F-FF65-F594-1A338F431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502" y="691981"/>
            <a:ext cx="3654507" cy="2879136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98739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66CF2-EAC6-8B91-8520-7B3738E17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C268F5-2368-A83E-8D72-C7E20140E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Egress</a:t>
            </a:r>
            <a:r>
              <a:rPr lang="it-IT" dirty="0"/>
              <a:t> | Dettaglio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C18D2AC-10DD-1995-ECDA-6B6D80915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EE00731-CB22-D89E-5604-4740AFD2B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083812A0-F0C9-95DC-FA77-0EAA8F458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461" y="1481328"/>
            <a:ext cx="6065118" cy="1138304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1FDD7AE2-FACF-93E0-A57B-7CBD41B81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660" y="1481328"/>
            <a:ext cx="5091536" cy="4456917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" name="Segnaposto contenuto 2">
            <a:extLst>
              <a:ext uri="{FF2B5EF4-FFF2-40B4-BE49-F238E27FC236}">
                <a16:creationId xmlns:a16="http://schemas.microsoft.com/office/drawing/2014/main" id="{58598F16-AB12-7DEB-CD78-0B2A56F00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7461" y="2806765"/>
            <a:ext cx="5682604" cy="3131480"/>
          </a:xfrm>
        </p:spPr>
        <p:txBody>
          <a:bodyPr>
            <a:normAutofit fontScale="92500" lnSpcReduction="20000"/>
          </a:bodyPr>
          <a:lstStyle/>
          <a:p>
            <a:r>
              <a:rPr lang="it-IT" sz="1600" b="1" dirty="0"/>
              <a:t>Il </a:t>
            </a:r>
            <a:r>
              <a:rPr lang="it-IT" sz="1600" b="1" dirty="0" err="1"/>
              <a:t>Preload</a:t>
            </a:r>
            <a:r>
              <a:rPr lang="it-IT" sz="1600" b="1" dirty="0"/>
              <a:t> Hint: </a:t>
            </a:r>
            <a:r>
              <a:rPr lang="it-IT" sz="1600" dirty="0"/>
              <a:t>annuncia il nome della prossima parte della traccia corrente, che il server non ha ancora prodotto. Il player può richiederla subito: il server tiene la richiesta aperta e risponde appena il file è pronto, senza dover prima rileggere la playlist.</a:t>
            </a:r>
          </a:p>
          <a:p>
            <a:r>
              <a:rPr lang="it-IT" sz="1600" b="1" dirty="0"/>
              <a:t>Il Rendition Report:</a:t>
            </a:r>
            <a:r>
              <a:rPr lang="it-IT" sz="1600" dirty="0"/>
              <a:t> riporta lo stato delle altre tracce. Per ognuna indica l’URI della sua </a:t>
            </a:r>
            <a:r>
              <a:rPr lang="it-IT" sz="1600" dirty="0" err="1"/>
              <a:t>chunklist</a:t>
            </a:r>
            <a:r>
              <a:rPr lang="it-IT" sz="1600" dirty="0"/>
              <a:t>, l’ultimo segmento disponibile (LAST-MSN) e l’ultima parte disponibile (LAST-PART). Permette al player di cambiare rendition, ad esempio da 480p a 720p, senza scaricare prima la playlist di destinazione: sa già quale </a:t>
            </a:r>
            <a:r>
              <a:rPr lang="it-IT" sz="1600" dirty="0" err="1"/>
              <a:t>chunklist</a:t>
            </a:r>
            <a:r>
              <a:rPr lang="it-IT" sz="1600" dirty="0"/>
              <a:t> chiedere e da quale punto riprendere.</a:t>
            </a:r>
          </a:p>
        </p:txBody>
      </p:sp>
    </p:spTree>
    <p:extLst>
      <p:ext uri="{BB962C8B-B14F-4D97-AF65-F5344CB8AC3E}">
        <p14:creationId xmlns:p14="http://schemas.microsoft.com/office/powerpoint/2010/main" val="20496598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0384D-D55B-7B37-5FE0-49AEB96F4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D248D7-F2FB-EE1B-16C0-4870BEA39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Architettura Front-End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D1E3C9F-BF9A-3280-FE8B-86F51DA42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it-IT" sz="1600" dirty="0"/>
              <a:t>L'interfaccia utente è sviluppata come una Single Page Application (SPA) basata su React, progettata per offrire un'esperienza fluida, reattiva e senza ricaricamenti di pagina.</a:t>
            </a:r>
          </a:p>
          <a:p>
            <a:pPr lvl="0"/>
            <a:r>
              <a:rPr lang="it-IT" sz="1600" dirty="0"/>
              <a:t>Il client è interamente containerizzato tramite Docker.</a:t>
            </a:r>
          </a:p>
          <a:p>
            <a:r>
              <a:rPr lang="it-IT" sz="1600" dirty="0"/>
              <a:t>La distribuzione dei file statici del Front-End è gestita da un server </a:t>
            </a:r>
            <a:r>
              <a:rPr lang="it-IT" sz="1600" dirty="0" err="1"/>
              <a:t>Nginx</a:t>
            </a:r>
            <a:r>
              <a:rPr lang="it-IT" sz="1600" dirty="0"/>
              <a:t> che agisce come reverse proxy, ottimizzando le performance di caricamento e instradando correttamente le richieste.</a:t>
            </a:r>
          </a:p>
          <a:p>
            <a:pPr lvl="0"/>
            <a:r>
              <a:rPr lang="it-IT" sz="1600" dirty="0"/>
              <a:t>L'applicazione comunica asincronamente con il Back-End </a:t>
            </a:r>
            <a:r>
              <a:rPr lang="it-IT" sz="1600" dirty="0" err="1"/>
              <a:t>Node.js</a:t>
            </a:r>
            <a:r>
              <a:rPr lang="it-IT" sz="1600" dirty="0"/>
              <a:t> tramite chiamate REST protette da cookie di sessione e stabilisce connessioni bidirezionali in tempo reale sfruttando i </a:t>
            </a:r>
            <a:r>
              <a:rPr lang="it-IT" sz="1600" dirty="0" err="1"/>
              <a:t>WebSocket</a:t>
            </a:r>
            <a:r>
              <a:rPr lang="it-IT" sz="1600" dirty="0"/>
              <a:t>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228F24E-64B7-A6FB-63D0-8A9AD7359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AC00F42-4056-999A-2903-F4211FD8F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</p:spTree>
    <p:extLst>
      <p:ext uri="{BB962C8B-B14F-4D97-AF65-F5344CB8AC3E}">
        <p14:creationId xmlns:p14="http://schemas.microsoft.com/office/powerpoint/2010/main" val="27049923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815CF-832B-0026-2F62-35DFC70AB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2792B9-0987-0F94-4056-995BA67A9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Front-End | Auth View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CB55DE-BDD2-9B3C-18D3-6A955154C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481328"/>
            <a:ext cx="7183056" cy="4922417"/>
          </a:xfrm>
        </p:spPr>
        <p:txBody>
          <a:bodyPr>
            <a:normAutofit/>
          </a:bodyPr>
          <a:lstStyle/>
          <a:p>
            <a:pPr lvl="0"/>
            <a:r>
              <a:rPr lang="it-IT" sz="1600" dirty="0"/>
              <a:t>Il componente gestisce un'interfaccia a doppia scheda che centralizza i flussi login e la registrazione per gli utenti ospiti.</a:t>
            </a:r>
          </a:p>
          <a:p>
            <a:pPr lvl="0"/>
            <a:r>
              <a:rPr lang="it-IT" sz="1600" dirty="0"/>
              <a:t>Sfrutta lo stato locale di React per memorizzare e validare in tempo reale i campi dei form, implementando controlli preventivi sulla compilazione obbligatoriamente richiesta prima di inviare le richieste HTTP.</a:t>
            </a:r>
          </a:p>
          <a:p>
            <a:pPr lvl="0"/>
            <a:r>
              <a:rPr lang="it-IT" sz="1600" dirty="0"/>
              <a:t>Esegue chiamate asincrone di tipo POST verso gli endpoint dedicati del Back-End (/api/</a:t>
            </a:r>
            <a:r>
              <a:rPr lang="it-IT" sz="1600" dirty="0" err="1"/>
              <a:t>auth</a:t>
            </a:r>
            <a:r>
              <a:rPr lang="it-IT" sz="1600" dirty="0"/>
              <a:t>/login e /api/</a:t>
            </a:r>
            <a:r>
              <a:rPr lang="it-IT" sz="1600" dirty="0" err="1"/>
              <a:t>auth</a:t>
            </a:r>
            <a:r>
              <a:rPr lang="it-IT" sz="1600" dirty="0"/>
              <a:t>/</a:t>
            </a:r>
            <a:r>
              <a:rPr lang="it-IT" sz="1600" dirty="0" err="1"/>
              <a:t>register</a:t>
            </a:r>
            <a:r>
              <a:rPr lang="it-IT" sz="1600" dirty="0"/>
              <a:t>), configurando l'opzione </a:t>
            </a:r>
            <a:r>
              <a:rPr lang="it-IT" sz="1600" dirty="0" err="1"/>
              <a:t>credentials</a:t>
            </a:r>
            <a:r>
              <a:rPr lang="it-IT" sz="1600" dirty="0"/>
              <a:t>: 'include' per gestire correttamente il rilascio del cookie di sessione.</a:t>
            </a:r>
          </a:p>
          <a:p>
            <a:pPr lvl="0"/>
            <a:r>
              <a:rPr lang="it-IT" sz="1600" dirty="0"/>
              <a:t>Gestisce un sistema centralizzato di feedback visivo dinamico per comunicare all'utente eventuali errori di autenticazione o conferme di avvenuta registrazione, sbloccando l'accesso tramite la funzione di </a:t>
            </a:r>
            <a:r>
              <a:rPr lang="it-IT" sz="1600" dirty="0" err="1"/>
              <a:t>callback</a:t>
            </a:r>
            <a:r>
              <a:rPr lang="it-IT" sz="1600" dirty="0"/>
              <a:t> </a:t>
            </a:r>
            <a:r>
              <a:rPr lang="it-IT" sz="1600" dirty="0" err="1"/>
              <a:t>onLoginSuccess</a:t>
            </a:r>
            <a:r>
              <a:rPr lang="it-IT" sz="1600" dirty="0"/>
              <a:t>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4086A56E-757D-6B03-B864-4A3B3BC70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737" y="457240"/>
            <a:ext cx="3208165" cy="1850462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2221D6F-2D94-2FCC-FB90-979AB8360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736" y="2458939"/>
            <a:ext cx="3208166" cy="2024200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8D88DFA-0589-742C-5DED-378CC6581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2736" y="4634376"/>
            <a:ext cx="3208168" cy="2009211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70E4438-929A-D4D0-9C72-DD779943D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EA57150-B00B-0AA2-1FAB-AD7C6072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</p:spTree>
    <p:extLst>
      <p:ext uri="{BB962C8B-B14F-4D97-AF65-F5344CB8AC3E}">
        <p14:creationId xmlns:p14="http://schemas.microsoft.com/office/powerpoint/2010/main" val="11738937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8D6DF-1FE3-7662-9DAF-B14CE8438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91662E-80F7-5238-01C4-B08D1490B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Front-End | </a:t>
            </a:r>
            <a:r>
              <a:rPr lang="it-IT" dirty="0" err="1"/>
              <a:t>Sidebar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F20635A-DEFB-7B22-9433-DE999FB45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481328"/>
            <a:ext cx="7183056" cy="4922417"/>
          </a:xfrm>
        </p:spPr>
        <p:txBody>
          <a:bodyPr>
            <a:normAutofit/>
          </a:bodyPr>
          <a:lstStyle/>
          <a:p>
            <a:pPr lvl="0"/>
            <a:r>
              <a:rPr lang="it-IT" sz="1600" dirty="0"/>
              <a:t>Il componente gestisce la barra laterale di navigazione della dashboard, dividendosi in due sezioni distinte dedicate rispettivamente ai canali seguiti dall'utente e all'esplorazione globale di tutti gli utenti registrati sulla piattaforma.</a:t>
            </a:r>
          </a:p>
          <a:p>
            <a:pPr lvl="0"/>
            <a:r>
              <a:rPr lang="it-IT" sz="1600" dirty="0"/>
              <a:t>Implementa un meccanismo di aggiornamento periodico tramite un timer a intervalli regolari di cinque secondi per mantenere sempre sincronizzati lo stato di attività in diretta e la lista delle iscrizioni.</a:t>
            </a:r>
          </a:p>
          <a:p>
            <a:pPr lvl="0"/>
            <a:r>
              <a:rPr lang="it-IT" sz="1600" dirty="0"/>
              <a:t>Gestisce in modo interattivo le azioni di iscrizione e disiscrizione tramite chiamate asincrone di tipo POST e DELETE verso gli endpoint di sottoscrizione del Back-End, aggiornando istantaneamente la vista.</a:t>
            </a:r>
          </a:p>
          <a:p>
            <a:pPr lvl="0"/>
            <a:r>
              <a:rPr lang="it-IT" sz="1600" dirty="0"/>
              <a:t>Coordina la selezione del canale attivo attraverso una funzione di </a:t>
            </a:r>
            <a:r>
              <a:rPr lang="it-IT" sz="1600" dirty="0" err="1"/>
              <a:t>callback</a:t>
            </a:r>
            <a:r>
              <a:rPr lang="it-IT" sz="1600" dirty="0"/>
              <a:t> condivisa con il componente genitore, evidenziando graficamente lo streamer scelto e consentendo il passaggio immediato alla visualizzazione del player e della chat corrispondenti.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21EEABF-85A4-9C25-D23B-5CD113FEB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4595" y="1222861"/>
            <a:ext cx="1499379" cy="5336498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82C6AE48-4431-9092-BC3D-135C4A2FF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5959" y="1222859"/>
            <a:ext cx="1506399" cy="5336499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FE2328A-C239-2881-C9E0-A57BB553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27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67BAC6F-64C2-11A5-C3F8-DE6C2265C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</p:spTree>
    <p:extLst>
      <p:ext uri="{BB962C8B-B14F-4D97-AF65-F5344CB8AC3E}">
        <p14:creationId xmlns:p14="http://schemas.microsoft.com/office/powerpoint/2010/main" val="3628276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CD15E-0FE3-B68F-4017-DF9325787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599049-0768-772B-3323-1F863274C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Front-End | Chat Box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02B93BC-5323-945D-DDC2-CEC73D840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481328"/>
            <a:ext cx="7183056" cy="4922417"/>
          </a:xfrm>
        </p:spPr>
        <p:txBody>
          <a:bodyPr>
            <a:normAutofit/>
          </a:bodyPr>
          <a:lstStyle/>
          <a:p>
            <a:pPr lvl="0"/>
            <a:r>
              <a:rPr lang="it-IT" sz="1600" dirty="0"/>
              <a:t>Il componente gestisce la comunicazione testuale in tempo reale aprendo una connessione bidirezionale tramite </a:t>
            </a:r>
            <a:r>
              <a:rPr lang="it-IT" sz="1600" dirty="0" err="1"/>
              <a:t>WebSocket</a:t>
            </a:r>
            <a:r>
              <a:rPr lang="it-IT" sz="1600" dirty="0"/>
              <a:t> dinamica, associata alla specifica stanza del canale selezionato.</a:t>
            </a:r>
          </a:p>
          <a:p>
            <a:pPr lvl="0"/>
            <a:r>
              <a:rPr lang="it-IT" sz="1600" dirty="0"/>
              <a:t>Implementa la ricezione e il rendering dello storico dei messaggi inviato inizialmente dal server e dei successivi messaggi di chat, gestendo contestualmente l'aggiornamento automatico dello scrolling in fondo alla lista.</a:t>
            </a:r>
          </a:p>
          <a:p>
            <a:pPr lvl="0"/>
            <a:r>
              <a:rPr lang="it-IT" sz="1600" dirty="0"/>
              <a:t>Intercetta i codici di chiusura o errore della connessione </a:t>
            </a:r>
            <a:r>
              <a:rPr lang="it-IT" sz="1600" dirty="0" err="1"/>
              <a:t>WebSocket</a:t>
            </a:r>
            <a:r>
              <a:rPr lang="it-IT" sz="1600" dirty="0"/>
              <a:t> mostrando un banner di avviso visivo e disabilitando l'invio dei messaggi quando la live non è attiva.</a:t>
            </a:r>
          </a:p>
          <a:p>
            <a:pPr lvl="0"/>
            <a:r>
              <a:rPr lang="it-IT" sz="1600" dirty="0"/>
              <a:t>Gestisce l'invio dei testi digitati dall'utente previa validazione dello stato attivo della connessione, pulendo i campi di input e sincronizzando l'interfaccia con i riscontri di errore restituiti dal server.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F2D5586-288B-4D71-6AF6-CC5DE150E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4244" y="1378458"/>
            <a:ext cx="1700201" cy="4922417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2469EDA7-1711-1684-0021-436CCDB8B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983" y="1378457"/>
            <a:ext cx="1715387" cy="4922417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5F62CCC-7B82-75BF-6C53-3D7932F09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28</a:t>
            </a:fld>
            <a:endParaRPr lang="it-IT"/>
          </a:p>
        </p:txBody>
      </p:sp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0B48D53F-D38D-F448-1122-7C58CC914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</p:spTree>
    <p:extLst>
      <p:ext uri="{BB962C8B-B14F-4D97-AF65-F5344CB8AC3E}">
        <p14:creationId xmlns:p14="http://schemas.microsoft.com/office/powerpoint/2010/main" val="12681374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73C1E-DDE0-2CED-3FC6-38BA1B164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9F4B7B-F30D-9810-94AE-2282DC010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Front-End | Video Player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731C120-38B2-3B54-AFBD-94A52D8BA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481328"/>
            <a:ext cx="7183056" cy="4922417"/>
          </a:xfrm>
        </p:spPr>
        <p:txBody>
          <a:bodyPr>
            <a:normAutofit/>
          </a:bodyPr>
          <a:lstStyle/>
          <a:p>
            <a:pPr lvl="0"/>
            <a:r>
              <a:rPr lang="it-IT" sz="1600" dirty="0"/>
              <a:t>Il componente gestisce la riproduzione del flusso video in tempo reale integrando la libreria specializzata </a:t>
            </a:r>
            <a:r>
              <a:rPr lang="it-IT" sz="1600" dirty="0" err="1"/>
              <a:t>hls.js</a:t>
            </a:r>
            <a:r>
              <a:rPr lang="it-IT" sz="1600" dirty="0"/>
              <a:t> per il supporto nativo dei flussi a bassissima latenza (LL-HLS) generati da </a:t>
            </a:r>
            <a:r>
              <a:rPr lang="it-IT" sz="1600" dirty="0" err="1"/>
              <a:t>OvenMediaEngine</a:t>
            </a:r>
            <a:r>
              <a:rPr lang="it-IT" sz="1600" dirty="0"/>
              <a:t>.</a:t>
            </a:r>
          </a:p>
          <a:p>
            <a:pPr lvl="0"/>
            <a:r>
              <a:rPr lang="it-IT" sz="1600" dirty="0"/>
              <a:t>Implementa controlli preliminari e monitora lo stato del canale e della rete, distinguendo le condizioni in cui la diretta non è ancora iniziata (offline), è in corso (live) o è stata interrotta dallo streamer (</a:t>
            </a:r>
            <a:r>
              <a:rPr lang="it-IT" sz="1600" dirty="0" err="1"/>
              <a:t>ended</a:t>
            </a:r>
            <a:r>
              <a:rPr lang="it-IT" sz="1600" dirty="0"/>
              <a:t>).</a:t>
            </a:r>
          </a:p>
          <a:p>
            <a:pPr lvl="0"/>
            <a:r>
              <a:rPr lang="it-IT" sz="1600" dirty="0"/>
              <a:t>Sfrutta un timer periodico per calcolare e mostrare metriche diagnostiche avanzate in tempo reale, tra cui il tempo di </a:t>
            </a:r>
            <a:r>
              <a:rPr lang="it-IT" sz="1600" dirty="0" err="1"/>
              <a:t>uptime</a:t>
            </a:r>
            <a:r>
              <a:rPr lang="it-IT" sz="1600" dirty="0"/>
              <a:t> della riproduzione, la risoluzione attiva, la latenza stimata del buffer e il conteggio dei frame video.</a:t>
            </a:r>
          </a:p>
          <a:p>
            <a:pPr lvl="0"/>
            <a:r>
              <a:rPr lang="it-IT" sz="1600" dirty="0"/>
              <a:t>Gestisce interfacce di overlay condizionali e badge dinamici per informare visivamente lo spettatore sullo stato di salute della connessione e sull'uso dei profili di </a:t>
            </a:r>
            <a:r>
              <a:rPr lang="it-IT" sz="1600" dirty="0" err="1"/>
              <a:t>Bitrate</a:t>
            </a:r>
            <a:r>
              <a:rPr lang="it-IT" sz="1600" dirty="0"/>
              <a:t> Adattivo (ABR).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DC9C838-2DED-7867-3956-82ACD7D52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1257" y="1562070"/>
            <a:ext cx="3977390" cy="2298823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5C8F3BE-D153-C218-0BA3-B26E6A35F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1257" y="4097853"/>
            <a:ext cx="3977390" cy="2257227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8976847-5F68-2FC5-EE49-C5F488552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29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EC93753-C788-A345-00BF-65974C295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</p:spTree>
    <p:extLst>
      <p:ext uri="{BB962C8B-B14F-4D97-AF65-F5344CB8AC3E}">
        <p14:creationId xmlns:p14="http://schemas.microsoft.com/office/powerpoint/2010/main" val="26851842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D8C32-B430-EC2A-F62D-3455EBCD9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5989F6-816C-02EE-2718-A20103FD4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Sviluppi futuri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DA470FB-23A6-F837-CDEB-D95ACE56E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1" y="1481328"/>
            <a:ext cx="10515599" cy="4922417"/>
          </a:xfrm>
        </p:spPr>
        <p:txBody>
          <a:bodyPr>
            <a:normAutofit/>
          </a:bodyPr>
          <a:lstStyle/>
          <a:p>
            <a:pPr lvl="0"/>
            <a:r>
              <a:rPr lang="it-IT" sz="1600" dirty="0"/>
              <a:t>Introdurre l'uso di HTTPS e WSS per le comunicazioni esterne alla rete Docker (tra il broadcaster, il browser e il server), implementando un meccanismo di SSL </a:t>
            </a:r>
            <a:r>
              <a:rPr lang="it-IT" sz="1600" dirty="0" err="1"/>
              <a:t>Offloading</a:t>
            </a:r>
            <a:r>
              <a:rPr lang="it-IT" sz="1600" dirty="0"/>
              <a:t> tramite il reverse proxy </a:t>
            </a:r>
            <a:r>
              <a:rPr lang="it-IT" sz="1600" dirty="0" err="1"/>
              <a:t>Nginx</a:t>
            </a:r>
            <a:r>
              <a:rPr lang="it-IT" sz="1600" dirty="0"/>
              <a:t>.</a:t>
            </a:r>
          </a:p>
          <a:p>
            <a:pPr lvl="0"/>
            <a:r>
              <a:rPr lang="it-IT" sz="1600" dirty="0"/>
              <a:t>Integrare in un contesto di produzione un'istanza </a:t>
            </a:r>
            <a:r>
              <a:rPr lang="it-IT" sz="1600" dirty="0" err="1"/>
              <a:t>Redis</a:t>
            </a:r>
            <a:r>
              <a:rPr lang="it-IT" sz="1600" dirty="0"/>
              <a:t> dedicata alla gestione centralizzata della cache per le sessioni utente e i cookie, migliorando la scalabilità e la persistenza del Back-End (</a:t>
            </a:r>
            <a:r>
              <a:rPr lang="it-IT" sz="1600" dirty="0" err="1"/>
              <a:t>npm-redis</a:t>
            </a:r>
            <a:r>
              <a:rPr lang="it-IT" sz="1600" dirty="0"/>
              <a:t>).</a:t>
            </a:r>
          </a:p>
          <a:p>
            <a:pPr lvl="0"/>
            <a:r>
              <a:rPr lang="it-IT" sz="1600" dirty="0"/>
              <a:t>Valutare l'adozione del protocollo SRT (Secure </a:t>
            </a:r>
            <a:r>
              <a:rPr lang="it-IT" sz="1600" dirty="0" err="1"/>
              <a:t>Reliable</a:t>
            </a:r>
            <a:r>
              <a:rPr lang="it-IT" sz="1600" dirty="0"/>
              <a:t> </a:t>
            </a:r>
            <a:r>
              <a:rPr lang="it-IT" sz="1600" dirty="0" err="1"/>
              <a:t>Transport</a:t>
            </a:r>
            <a:r>
              <a:rPr lang="it-IT" sz="1600" dirty="0"/>
              <a:t>) come alternativa a RTMP per l'ingestione video da parte di OBS, garantendo maggiore resilienza in caso di reti instabili.</a:t>
            </a:r>
          </a:p>
          <a:p>
            <a:pPr lvl="0"/>
            <a:r>
              <a:rPr lang="it-IT" sz="1600" dirty="0"/>
              <a:t>Evolvere il sistema di controllo degli accessi introducendo un modello basato su ruoli (RBAC - Role-Based Access Control) per distinguere permessi e funzionalità tra utenti, moderatori e streamer.</a:t>
            </a:r>
          </a:p>
          <a:p>
            <a:pPr lvl="0"/>
            <a:r>
              <a:rPr lang="it-IT" sz="1600" dirty="0"/>
              <a:t>Irrobustire la sicurezza del Back-End.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E0DD5F2-D547-A90A-5F66-06DBA6B5D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30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335BB0B-BDE4-2817-3C2E-3BDD49493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</a:p>
        </p:txBody>
      </p:sp>
    </p:spTree>
    <p:extLst>
      <p:ext uri="{BB962C8B-B14F-4D97-AF65-F5344CB8AC3E}">
        <p14:creationId xmlns:p14="http://schemas.microsoft.com/office/powerpoint/2010/main" val="24510808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21A6E-D8E0-B973-3C92-F82187B66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10" descr="FINE!! GRAZIE PER L'ATTENZIONE! - Success Kid Meme Generator">
            <a:extLst>
              <a:ext uri="{FF2B5EF4-FFF2-40B4-BE49-F238E27FC236}">
                <a16:creationId xmlns:a16="http://schemas.microsoft.com/office/drawing/2014/main" id="{4262CF3A-053C-0BEF-72E1-0F5D478169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34581" y="967581"/>
            <a:ext cx="4922838" cy="4922838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6AFCB53B-3EEA-58DB-AECA-C37B4CA58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F7B50-560D-174B-B17B-7351FD58EBD3}" type="slidenum">
              <a:rPr lang="it-IT" smtClean="0"/>
              <a:t>31</a:t>
            </a:fld>
            <a:endParaRPr lang="it-IT"/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664C8E1A-68DB-EB4F-9F66-3A418B6F8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Esame WebRTC Rivieccio Tommaso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08186467"/>
      </p:ext>
    </p:extLst>
  </p:cSld>
  <p:clrMapOvr>
    <a:masterClrMapping/>
  </p:clrMapOvr>
</p:sld>
</file>

<file path=ppt/theme/theme1.xml><?xml version="1.0" encoding="utf-8"?>
<a:theme xmlns:a="http://schemas.openxmlformats.org/drawingml/2006/main" name="Giorni scolastici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4959</TotalTime>
  <Words>3198</Words>
  <Application>Microsoft Macintosh PowerPoint</Application>
  <PresentationFormat>Widescreen</PresentationFormat>
  <Paragraphs>205</Paragraphs>
  <Slides>32</Slides>
  <Notes>0</Notes>
  <HiddenSlides>1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32</vt:i4>
      </vt:variant>
    </vt:vector>
  </HeadingPairs>
  <TitlesOfParts>
    <vt:vector size="37" baseType="lpstr">
      <vt:lpstr>Aptos</vt:lpstr>
      <vt:lpstr>Arial</vt:lpstr>
      <vt:lpstr>JasmineUPC</vt:lpstr>
      <vt:lpstr>Raleway</vt:lpstr>
      <vt:lpstr>Giorni scolastici</vt:lpstr>
      <vt:lpstr>FakeTwitch</vt:lpstr>
      <vt:lpstr>Stato dell’arte dello streaming</vt:lpstr>
      <vt:lpstr>Architettura</vt:lpstr>
      <vt:lpstr>Streaming Pipeline</vt:lpstr>
      <vt:lpstr>Overview</vt:lpstr>
      <vt:lpstr>Broadcaster e Ingestion</vt:lpstr>
      <vt:lpstr>RTMP | Handshake</vt:lpstr>
      <vt:lpstr>RTMP | Connect</vt:lpstr>
      <vt:lpstr>RTMP | Create Stream</vt:lpstr>
      <vt:lpstr>RTMP | Publish</vt:lpstr>
      <vt:lpstr>RTMP | Overview</vt:lpstr>
      <vt:lpstr>RTMP | Audio Data e Video Data</vt:lpstr>
      <vt:lpstr>Il Server Streaming OvenMediaEngine</vt:lpstr>
      <vt:lpstr>OME | Configurazione Globale del Server</vt:lpstr>
      <vt:lpstr>OME | Moduli Interni e Gestione Risorse</vt:lpstr>
      <vt:lpstr>OME | Apertura delle Porte di Rete e Bind</vt:lpstr>
      <vt:lpstr>OME | Virtual Host e Sicurezza Webhook </vt:lpstr>
      <vt:lpstr>OME | Applicazioni, Transcodifica e ABR</vt:lpstr>
      <vt:lpstr>Il Back-End</vt:lpstr>
      <vt:lpstr>Database</vt:lpstr>
      <vt:lpstr>REST API</vt:lpstr>
      <vt:lpstr>M2M Auth </vt:lpstr>
      <vt:lpstr>Chat Room Effimera</vt:lpstr>
      <vt:lpstr>Egress</vt:lpstr>
      <vt:lpstr>Egress | Dettaglio</vt:lpstr>
      <vt:lpstr>Architettura Front-End</vt:lpstr>
      <vt:lpstr>Front-End | Auth View</vt:lpstr>
      <vt:lpstr>Front-End | Sidebar</vt:lpstr>
      <vt:lpstr>Front-End | Chat Box</vt:lpstr>
      <vt:lpstr>Front-End | Video Player</vt:lpstr>
      <vt:lpstr>Sviluppi futuri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TOMMASO RIVIECCIO</dc:creator>
  <cp:lastModifiedBy>TOMMASO RIVIECCIO</cp:lastModifiedBy>
  <cp:revision>88</cp:revision>
  <dcterms:created xsi:type="dcterms:W3CDTF">2026-10-02T11:18:19Z</dcterms:created>
  <dcterms:modified xsi:type="dcterms:W3CDTF">2026-10-12T13:16:44Z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2026-10-02T13:43:39Z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e685e6f3-9c0f-436f-8ce8-aaf511003016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50, 3, 0, 1</vt:lpwstr>
  </property>
</Properties>
</file>